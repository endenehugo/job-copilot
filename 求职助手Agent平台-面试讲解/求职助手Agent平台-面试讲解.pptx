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5" Type="http://schemas.openxmlformats.org/officeDocument/2006/relationships/notesMaster" Target="notesMasters/notesMaster1.xml" /><Relationship Id="rId13" Type="http://schemas.openxmlformats.org/officeDocument/2006/relationships/slide" Target="slides/slide13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1F2D3D"/>
                </a:solidFill>
              </a:defRPr>
            </a:pPr>
            <a:r>
              <a:rPr sz="1350">
                <a:solidFill>
                  <a:srgbClr val="1F2D3D"/>
                </a:solidFill>
              </a:rPr>
              <a:t>关键路径耗时对比（秒）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1F2D3D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优化前</c:v>
                </c:pt>
              </c:strCache>
            </c:strRef>
          </c:tx>
          <c:spPr>
            <a:solidFill>
              <a:srgbClr val="7BA7D9"/>
            </a:solidFill>
          </c:spPr>
          <c:dLbls>
            <c:txPr>
              <a:bodyPr/>
              <a:p>
                <a:pPr>
                  <a:defRPr sz="750">
                    <a:solidFill>
                      <a:srgbClr val="1F2D3D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2"/>
                <c:pt idx="0">
                  <c:v>重排耗时</c:v>
                </c:pt>
                <c:pt idx="1">
                  <c:v>首字节 TTFF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21.4</c:v>
                </c:pt>
                <c:pt idx="1">
                  <c:v>22.5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优化后</c:v>
                </c:pt>
              </c:strCache>
            </c:strRef>
          </c:tx>
          <c:spPr>
            <a:solidFill>
              <a:srgbClr val="E8590C"/>
            </a:solidFill>
          </c:spPr>
          <c:dLbls>
            <c:txPr>
              <a:bodyPr/>
              <a:p>
                <a:pPr>
                  <a:defRPr sz="750">
                    <a:solidFill>
                      <a:srgbClr val="1F2D3D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2"/>
                <c:pt idx="0">
                  <c:v>重排耗时</c:v>
                </c:pt>
                <c:pt idx="1">
                  <c:v>首字节 TTFF</c:v>
                </c:pt>
              </c:strCache>
            </c:strRef>
          </c:cat>
          <c:val>
            <c:numRef>
              <c:numCache>
                <c:formatCode>General</c:formatCode>
                <c:ptCount val="2"/>
                <c:pt idx="0">
                  <c:v>3.7</c:v>
                </c:pt>
                <c:pt idx="1">
                  <c:v>3.7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3A9BD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3A9BD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5E7B99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AFCFE', overflow: 'hidden' }}&gt;&#10;  &lt;Image src=&quot;assets/hero_cover.png&quot; style={{ position: 'absolute', top: 0, left: 0, width: 1280, height: 720, objectFit: 'cover' }} /&gt;&#10;  &lt;Box style={{ position: 'absolute', left: 72, bottom: 90, width: 780, background: 'rgba(255,255,255,0.88)', borderRadius: 16, padding: '34px 44px' }}&gt;&#10;    &lt;Box style={{ width: 48, height: 6, background: '#E8590C', marginBottom: 18 }} /&gt;&#10;    &lt;Text style={{ fontSize: 68, fontWeight: 'bold', color: '#0F4C81', lineHeight: 1.15, fontFamily: &quot;'Source Han Sans SC','PingFang SC','Microsoft YaHei',sans-serif&quot; }}&gt;求职助手 Agent 平台&lt;/Text&gt;&#10;    &lt;Text style={{ fontSize: 24, color: '#5E7B99', marginTop: 14 }}&gt;项目讲解 · 技术面试&lt;/Text&gt;&#10;    &lt;Text style={{ fontSize: 16, color: '#93A9BD', marginTop: 8 }}&gt;AI 应用工程师方向 · 2026.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85800" y="3552825"/>
            <a:ext cx="7429500" cy="2447925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04900" y="3876675"/>
            <a:ext cx="457200" cy="5715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04900" y="4105275"/>
            <a:ext cx="65913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0F4C81"/>
                </a:solidFill>
                <a:latin typeface="Source Han Sans SC"/>
                <a:ea typeface="Source Han Sans SC"/>
              </a:rPr>
              <a:t>求职助手</a:t>
            </a:r>
            <a:r>
              <a:rPr lang="en-US" sz="5100" b="1">
                <a:solidFill>
                  <a:srgbClr val="0F4C81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5100" b="1">
                <a:solidFill>
                  <a:srgbClr val="0F4C81"/>
                </a:solidFill>
                <a:latin typeface="Source Han Sans SC"/>
                <a:ea typeface="Source Han Sans SC"/>
              </a:rPr>
              <a:t>平台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104900" y="5133975"/>
            <a:ext cx="6591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5E7B99"/>
                </a:solidFill>
                <a:latin typeface="Microsoft YaHei"/>
                <a:ea typeface="Microsoft YaHei"/>
              </a:rPr>
              <a:t>项目讲解</a:t>
            </a:r>
            <a:r>
              <a:rPr lang="en-US" sz="1800">
                <a:solidFill>
                  <a:srgbClr val="5E7B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>
                <a:solidFill>
                  <a:srgbClr val="5E7B99"/>
                </a:solidFill>
                <a:latin typeface="Microsoft YaHei"/>
                <a:ea typeface="Microsoft YaHei"/>
              </a:rPr>
              <a:t>技术面试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04900" y="5486400"/>
            <a:ext cx="659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3A9B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93A9BD"/>
                </a:solidFill>
                <a:latin typeface="Microsoft YaHei"/>
                <a:ea typeface="Microsoft YaHei"/>
              </a:rPr>
              <a:t>应用工程师方向</a:t>
            </a:r>
            <a:r>
              <a:rPr lang="en-US" sz="12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0" name="" descr="&lt;Slide style={{ width: 1280, height: 720, background: '#FAFCFE', padding: '0 72px', overflow: 'hidden' }}&gt;&#10;  &lt;Box style={{ flexDirection: 'row', height: 540, marginTop: 60, gap: 70 }}&gt;&#10;    &lt;Box style={{ width: 300, paddingTop: 40 }}&gt;&#10;      &lt;Text style={{ fontSize: 52, fontWeight: 'bold', color: '#0F4C81' }}&gt;目录&lt;/Text&gt;&#10;      &lt;Box style={{ width: 40, height: 5, background: '#E8590C', marginTop: 16 }} /&gt;&#10;      &lt;Text style={{ fontSize: 18, color: '#5E7B99', lineHeight: 1.7, marginTop: 24 }}&gt;三个部分：先看项目全貌，再看有实测数据支撑的核心亮点，最后回到工程质量与工程判断。&lt;/Text&gt;&#10;    &lt;/Box&gt;&#10;    &lt;Box style={{ flex: 1, flexDirection: 'column', justifyContent: 'center', gap: 34 }}&gt;&#10;      &lt;Box style={{ flexDirection: 'row', alignItems: 'center', gap: 28 }}&gt;&#10;        &lt;Text style={{ fontSize: 46, fontWeight: 'bold', color: '#7BA7D9', fontFamily: &quot;'Inter','Helvetica Neue',Arial,sans-serif&quot; }}&gt;01&lt;/Text&gt;&#10;        &lt;Box style={{ flex: 1 }}&gt;&#10;          &lt;Text style={{ fontSize: 26, fontWeight: 'bold', color: '#1F2D3D' }}&gt;项目概览&lt;/Text&gt;&#10;          &lt;Text style={{ fontSize: 18, color: '#5E7B99', marginTop: 6 }}&gt;定位、功能全景与四层架构——说明这个项目的复杂度在哪里。&lt;/Text&gt;&#10;        &lt;/Box&gt;&#10;      &lt;/Box&gt;&#10;      &lt;Box style={{ height: 1, background: '#DCE9F5' }} /&gt;&#10;      &lt;Box style={{ flexDirection: 'row', alignItems: 'center', gap: 28 }}&gt;&#10;        &lt;Text style={{ fontSize: 46, fontWeight: 'bold', color: '#7BA7D9', fontFamily: &quot;'Inter','Helvetica Neue',Arial,sans-serif&quot; }}&gt;02&lt;/Text&gt;&#10;        &lt;Box style={{ flex: 1 }}&gt;&#10;          &lt;Text style={{ fontSize: 26, fontWeight: 'bold', color: '#1F2D3D' }}&gt;核心亮点与实测数据&lt;/Text&gt;&#10;          &lt;Text style={{ fontSize: 18, color: '#5E7B99', marginTop: 6 }}&gt;六大亮点逐一展开，每组结论都有自建基准支撑，包括一次被数据否决的方案。&lt;/Text&gt;&#10;        &lt;/Box&gt;&#10;      &lt;/Box&gt;&#10;      &lt;Box style={{ height: 1, background: '#DCE9F5' }} /&gt;&#10;      &lt;Box style={{ flexDirection: 'row', alignItems: 'center', gap: 28 }}&gt;&#10;        &lt;Text style={{ fontSize: 46, fontWeight: 'bold', color: '#7BA7D9', fontFamily: &quot;'Inter','Helvetica Neue',Arial,sans-serif&quot; }}&gt;03&lt;/Text&gt;&#10;        &lt;Box style={{ flex: 1 }}&gt;&#10;          &lt;Text style={{ fontSize: 26, fontWeight: 'bold', color: '#1F2D3D' }}&gt;工程质量与总结&lt;/Text&gt;&#10;          &lt;Text style={{ fontSize: 18, color: '#5E7B99', marginTop: 6 }}&gt;输出治理、155 项离线测试，以及贯穿全项目的工程方法论。&lt;/Text&gt;&#10;        &lt;/Box&gt;&#10;      &lt;/Box&gt;&#10;    &lt;/Box&gt;&#10;  &lt;/Box&gt;&#10;  &lt;Box style={{ height: 60, flexDirection: 'row', alignItems: 'center', justifyContent: 'space-between' }}&gt;&#10;    &lt;Text style={{ fontSize: 12, color: '#93A9BD' }}&gt;求职助手 Agent 平台 · 面试讲解&lt;/Text&gt;&#10;    &lt;Text style={{ fontSize: 12, color: '#93A9BD' }}&gt;0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85800" y="952500"/>
            <a:ext cx="28575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0F4C81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85800" y="1704975"/>
            <a:ext cx="381000" cy="47625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28575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三个部分：先看项目全貌，再看有实测数据支撑的核心亮点，最后回到工程质量与工程判断。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210050" y="1647825"/>
            <a:ext cx="4953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7BA7D9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972050" y="1628775"/>
            <a:ext cx="6534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2D3D"/>
                </a:solidFill>
                <a:latin typeface="Microsoft YaHei"/>
                <a:ea typeface="Microsoft YaHei"/>
              </a:rPr>
              <a:t>项目概览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972050" y="1990725"/>
            <a:ext cx="653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定位、功能全景与四层架构——说明这个项目的复杂度在哪里。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210050" y="2524125"/>
            <a:ext cx="7296150" cy="9525"/>
          </a:xfrm>
          <a:prstGeom prst="rect">
            <a:avLst/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210050" y="2876550"/>
            <a:ext cx="4953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7BA7D9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972050" y="2857500"/>
            <a:ext cx="6534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2D3D"/>
                </a:solidFill>
                <a:latin typeface="Microsoft YaHei"/>
                <a:ea typeface="Microsoft YaHei"/>
              </a:rPr>
              <a:t>核心亮点与实测数据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972050" y="3219450"/>
            <a:ext cx="653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六大亮点逐一展开，每组结论都有自建基准支撑，包括一次被数据否决的方案。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210050" y="3752850"/>
            <a:ext cx="7296150" cy="9525"/>
          </a:xfrm>
          <a:prstGeom prst="rect">
            <a:avLst/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210050" y="4105275"/>
            <a:ext cx="4953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7BA7D9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972050" y="4086225"/>
            <a:ext cx="6534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2D3D"/>
                </a:solidFill>
                <a:latin typeface="Microsoft YaHei"/>
                <a:ea typeface="Microsoft YaHei"/>
              </a:rPr>
              <a:t>工程质量与总结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972050" y="4448175"/>
            <a:ext cx="653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输出治理、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155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项离线测试，以及贯穿全项目的工程方法论。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5800" y="593407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面试讲解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115675" y="5934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38" name="" descr="&lt;Slide style={{ width: 1280, height: 720, background: '#FAFCFE', flexDirection: 'row', overflow: 'hidden' }}&gt;&#10;  &lt;Box style={{ width: 704, height: 720, background: 'linear-gradient(135deg, #0F4C81 0%, #2E6BA8 100%)', padding: '0 72px', justifyContent: 'center' }}&gt;&#10;    &lt;Text style={{ fontSize: 96, fontWeight: 'bold', color: 'rgba(255,255,255,0.5)', fontFamily: &quot;'Inter','Helvetica Neue',Arial,sans-serif&quot; }}&gt;01&lt;/Text&gt;&#10;    &lt;Text style={{ fontSize: 64, fontWeight: 'bold', color: '#FFFFFF', marginTop: 8 }}&gt;项目概览&lt;/Text&gt;&#10;    &lt;Box style={{ width: 48, height: 6, background: '#E8590C', marginTop: 26 }} /&gt;&#10;    &lt;Text style={{ fontSize: 20, color: 'rgba(255,255,255,0.85)', lineHeight: 1.7, marginTop: 24 }}&gt;一个求职场景的垂直 Agent：从 JD 解析、简历评分到模拟面试的全链路。&lt;/Text&gt;&#10;  &lt;/Box&gt;&#10;  &lt;Box style={{ flex: 1, height: 720 }}&gt;&#10;    &lt;Image src=&quot;assets/section_overview.png&quot; style={{ width: '100%', height: '100%', objectFit: 'cover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0" y="0"/>
            <a:ext cx="6705600" cy="6858000"/>
          </a:xfrm>
          <a:prstGeom prst="rect">
            <a:avLst/>
          </a:prstGeom>
          <a:gradFill>
            <a:gsLst>
              <a:gs pos="0">
                <a:srgbClr val="0F4C81"/>
              </a:gs>
              <a:gs pos="100000">
                <a:srgbClr val="2E6B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85800" y="1819275"/>
            <a:ext cx="5334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>
                    <a:alpha val="50000"/>
                  </a:srgbClr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5334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项目概览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85800" y="3981450"/>
            <a:ext cx="457200" cy="5715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85800" y="4267200"/>
            <a:ext cx="53340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一个求职场景的垂直</a:t>
            </a:r>
            <a:r>
              <a:rPr lang="en-US" sz="15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5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：从</a:t>
            </a:r>
            <a:r>
              <a:rPr lang="en-US" sz="15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JD </a:t>
            </a:r>
            <a:r>
              <a:rPr lang="zh-CN" sz="15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解析、简历评分到模拟面试的全链路。</a:t>
            </a:r>
            <a:endParaRPr/>
          </a:p>
        </p:txBody>
      </p:sp>
      <p:pic>
        <p:nvPicPr>
          <p:cNvPr id="145" name=""/>
          <p:cNvPicPr>
            <a:picLocks noChangeAspect="1"/>
          </p:cNvPicPr>
          <p:nvPr/>
        </p:nvPicPr>
        <p:blipFill>
          <a:blip r:embed="rId1"/>
          <a:srcRect l="9999" t="0" r="9999" b="0"/>
          <a:stretch>
            <a:fillRect/>
          </a:stretch>
        </p:blipFill>
        <p:spPr>
          <a:xfrm rot="0" flipH="0" flipV="0">
            <a:off x="6705600" y="0"/>
            <a:ext cx="54864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6" name="" descr="&lt;Slide style={{ width: 1280, height: 720, background: '#FAFCFE', padding: '0 72px', overflow: 'hidden' }}&gt;&#10;  &lt;Box style={{ paddingTop: 26 }}&gt;&#10;    &lt;Text style={{ fontSize: 34, fontWeight: 'bold', color: '#0F4C81' }}&gt;项目定位与功能全景&lt;/Text&gt;&#10;    &lt;Box style={{ width: 36, height: 4, background: '#E8590C', marginTop: 10 }} /&gt;&#10;  &lt;/Box&gt;&#10;  &lt;Box style={{ flexDirection: 'row', gap: 40, marginTop: 26, height: 448 }}&gt;&#10;    &lt;Box style={{ width: 700, background: '#FFFFFF', border: '0.5px solid #DCE9F5', borderRadius: 12, padding: 16, justifyContent: 'center' }}&gt;&#10;      &lt;svg width={668} height={416} viewBox='0 0 668 416'&gt;&#10;        &lt;rect x='194' y='10' width='280' height='58' rx='10' fill='#0F4C81' /&gt;&#10;        &lt;text x='334' y='46' textAnchor='middle' dominantBaseline='middle' fill='#FFFFFF' fontSize='22' fontWeight='bold'&gt;求职助手 Agent 平台&lt;/text&gt;&#10;        &lt;line x1='334' y1='68' x2='334' y2='96' stroke='#7BA7D9' strokeWidth='1.5' /&gt;&#10;        &lt;line x1='67' y1='96' x2='601' y2='96' stroke='#7BA7D9' strokeWidth='1.5' /&gt;&#10;        &lt;line x1='67' y1='96' x2='67' y2='118' stroke='#7BA7D9' strokeWidth='1.5' /&gt;&#10;        &lt;line x1='200' y1='96' x2='200' y2='118' stroke='#7BA7D9' strokeWidth='1.5' /&gt;&#10;        &lt;line x1='334' y1='96' x2='334' y2='118' stroke='#7BA7D9' strokeWidth='1.5' /&gt;&#10;        &lt;line x1='468' y1='96' x2='468' y2='118' stroke='#7BA7D9' strokeWidth='1.5' /&gt;&#10;        &lt;line x1='601' y1='96' x2='601' y2='118' stroke='#7BA7D9' strokeWidth='1.5' /&gt;&#10;        &lt;rect x='8' y='118' width='124' height='50' rx='8' fill='#DCE9F5' /&gt;&#10;        &lt;text x='70' y='149' textAnchor='middle' dominantBaseline='middle' fill='#0F4C81' fontSize='16' fontWeight='bold'&gt;会话 RAG 问答&lt;/text&gt;&#10;        &lt;rect x='142' y='118' width='124' height='50' rx='8' fill='#DCE9F5' /&gt;&#10;        &lt;text x='204' y='149' textAnchor='middle' dominantBaseline='middle' fill='#0F4C81' fontSize='16' fontWeight='bold'&gt;JD 解析&lt;/text&gt;&#10;        &lt;rect x='276' y='118' width='124' height='50' rx='8' fill='#DCE9F5' /&gt;&#10;        &lt;text x='338' y='149' textAnchor='middle' dominantBaseline='middle' fill='#0F4C81' fontSize='16' fontWeight='bold'&gt;简历评分&lt;/text&gt;&#10;        &lt;rect x='410' y='118' width='124' height='50' rx='8' fill='#DCE9F5' /&gt;&#10;        &lt;text x='472' y='149' textAnchor='middle' dominantBaseline='middle' fill='#0F4C81' fontSize='16' fontWeight='bold'&gt;模拟面试&lt;/text&gt;&#10;        &lt;rect x='544' y='118' width='124' height='50' rx='8' fill='#DCE9F5' /&gt;&#10;        &lt;text x='606' y='149' textAnchor='middle' dominantBaseline='middle' fill='#0F4C81' fontSize='16' fontWeight='bold'&gt;文档生成&lt;/text&gt;&#10;        &lt;line x1='70' y1='168' x2='70' y2='196' stroke='#DCE9F5' strokeWidth='1.5' /&gt;&#10;        &lt;line x1='204' y1='168' x2='204' y2='196' stroke='#DCE9F5' strokeWidth='1.5' /&gt;&#10;        &lt;line x1='338' y1='168' x2='338' y2='196' stroke='#DCE9F5' strokeWidth='1.5' /&gt;&#10;        &lt;line x1='472' y1='168' x2='472' y2='196' stroke='#DCE9F5' strokeWidth='1.5' /&gt;&#10;        &lt;line x1='606' y1='168' x2='606' y2='196' stroke='#DCE9F5' strokeWidth='1.5' /&gt;&#10;        &lt;text x='70' y='212' textAnchor='middle' fill='#5E7B99' fontSize='13'&gt;向量+BM25 混检&lt;/text&gt;&#10;        &lt;text x='204' y='212' textAnchor='middle' fill='#5E7B99' fontSize='13'&gt;结构化抽取&lt;/text&gt;&#10;        &lt;text x='338' y='212' textAnchor='middle' fill='#5E7B99' fontSize='13'&gt;逐字段 normalize&lt;/text&gt;&#10;        &lt;text x='472' y='212' textAnchor='middle' fill='#5E7B99' fontSize='13'&gt;多轮追问评估&lt;/text&gt;&#10;        &lt;text x='606' y='212' textAnchor='middle' fill='#5E7B99' fontSize='13'&gt;技能+分块写入&lt;/text&gt;&#10;        &lt;text x='70' y='238' textAnchor='middle' fill='#93A9BD' fontSize='13'&gt;引用标注&lt;/text&gt;&#10;        &lt;text x='204' y='238' textAnchor='middle' fill='#93A9BD' fontSize='13'&gt;存库+版本化&lt;/text&gt;&#10;        &lt;text x='338' y='238' textAnchor='middle' fill='#93A9BD' fontSize='13'&gt;风险分级&lt;/text&gt;&#10;        &lt;text x='472' y='238' textAnchor='middle' fill='#93A9BD' fontSize='13'&gt;历史持久化&lt;/text&gt;&#10;        &lt;text x='606' y='238' textAnchor='middle' fill='#93A9BD' fontSize='13'&gt;HTML 导出&lt;/text&gt;&#10;        &lt;rect x='8' y='290' width='660' height='54' rx='8' fill='none' stroke='#7BA7D9' strokeWidth='1.2' /&gt;&#10;        &lt;text x='338' y='323' textAnchor='middle' dominantBaseline='middle' fill='#0F4C81' fontSize='16'&gt;九个可插拔工具 · 工具轮循环统一编排 · 全链路降级可见化&lt;/text&gt;&#10;        &lt;text x='338' y='380' textAnchor='middle' fill='#93A9BD' fontSize='13'&gt;Flask 单体原型 → FastAPI + Vue3 前后端分离，核心服务层沿用线上排障验证过的实现&lt;/text&gt;&#10;      &lt;/svg&gt;&#10;    &lt;/Box&gt;&#10;    &lt;Box style={{ flex: 1, flexDirection: 'column', gap: 20 }}&gt;&#10;      &lt;Text style={{ fontSize: 20, color: '#1F2D3D', lineHeight: 1.6 }}&gt;个人独占项目，目标定位是 &lt;span style={{ fontWeight: 'bold', color: '#0F4C81' }}&gt;AI 应用工程为主、后端工程为辅&lt;/span&gt;——核心复杂度在 LLM 编排、检索治理与输出治理。&lt;/Text&gt;&#10;      &lt;Box style={{ flexDirection: 'row', gap: 24 }}&gt;&#10;        &lt;Box style={{ flex: 1 }}&gt;&#10;          &lt;Text style={{ fontSize: 36, fontWeight: 'bold', color: '#0F4C81', fontFamily: &quot;'Inter','Helvetica Neue',Arial,sans-serif&quot; }}&gt;9&lt;/Text&gt;&#10;          &lt;Text style={{ fontSize: 15, color: '#5E7B99', marginTop: 2 }}&gt;可插拔工具&lt;/Text&gt;&#10;        &lt;/Box&gt;&#10;        &lt;Box style={{ flex: 1 }}&gt;&#10;          &lt;Text style={{ fontSize: 36, fontWeight: 'bold', color: '#0F4C81', fontFamily: &quot;'Inter','Helvetica Neue',Arial,sans-serif&quot; }}&gt;5&lt;/Text&gt;&#10;          &lt;Text style={{ fontSize: 15, color: '#5E7B99', marginTop: 2 }}&gt;阶段全部交付&lt;/Text&gt;&#10;        &lt;/Box&gt;&#10;      &lt;/Box&gt;&#10;      &lt;Box style={{ background: '#DCE9F5', borderRadius: 8, padding: '14px 18px', borderLeft: '4px solid #E8590C' }}&gt;&#10;        &lt;Text style={{ fontSize: 18, color: '#0F4C81', lineHeight: 1.6 }}&gt;九个工具意味着复杂度在编排与治理，不在 CRUD——这也是后面所有亮点的主线。&lt;/Text&gt;&#10;      &lt;/Box&gt;&#10;    &lt;/Box&gt;&#10;  &lt;/Box&gt;&#10;  &lt;Box style={{ height: 60, flexDirection: 'row', alignItems: 'center', justifyContent: 'space-between' }}&gt;&#10;    &lt;Text style={{ fontSize: 12, color: '#93A9BD' }}&gt;求职助手 Agent 平台 · 面试讲解&lt;/Text&gt;&#10;    &lt;Text style={{ fontSize: 12, color: '#93A9BD' }}&gt;04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85800" y="247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4C81"/>
                </a:solidFill>
                <a:latin typeface="Microsoft YaHei"/>
                <a:ea typeface="Microsoft YaHei"/>
              </a:rPr>
              <a:t>项目定位与功能全景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85800" y="733425"/>
            <a:ext cx="342900" cy="381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685800" y="1019175"/>
            <a:ext cx="6667500" cy="42672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171575"/>
            <a:ext cx="6362700" cy="3962400"/>
          </a:xfrm>
          <a:prstGeom prst="rect">
            <a:avLst/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734300" y="1019175"/>
            <a:ext cx="37719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F2D3D"/>
                </a:solidFill>
                <a:latin typeface="Microsoft YaHei"/>
                <a:ea typeface="Microsoft YaHei"/>
              </a:rPr>
              <a:t>个人独占项目，目标定位是</a:t>
            </a:r>
            <a:r>
              <a:rPr lang="en-US" sz="1500">
                <a:solidFill>
                  <a:srgbClr val="1F2D3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 b="1">
                <a:solidFill>
                  <a:srgbClr val="0F4C81"/>
                </a:solidFill>
                <a:latin typeface="Microsoft YaHei"/>
                <a:ea typeface="Microsoft YaHei"/>
              </a:rPr>
              <a:t>应用工程为主、后端工程为辅</a:t>
            </a:r>
            <a:r>
              <a:rPr lang="zh-CN" sz="1500">
                <a:solidFill>
                  <a:srgbClr val="1F2D3D"/>
                </a:solidFill>
                <a:latin typeface="Microsoft YaHei"/>
                <a:ea typeface="Microsoft YaHei"/>
              </a:rPr>
              <a:t>——核心复杂度在</a:t>
            </a:r>
            <a:r>
              <a:rPr lang="en-US" sz="1500">
                <a:solidFill>
                  <a:srgbClr val="1F2D3D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500">
                <a:solidFill>
                  <a:srgbClr val="1F2D3D"/>
                </a:solidFill>
                <a:latin typeface="Microsoft YaHei"/>
                <a:ea typeface="Microsoft YaHei"/>
              </a:rPr>
              <a:t>编排、检索治理与输出治理。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734300" y="2314575"/>
            <a:ext cx="1771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4C81"/>
                </a:solidFill>
                <a:latin typeface="Inter"/>
                <a:ea typeface="Inter"/>
              </a:rPr>
              <a:t>9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734300" y="27527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可插拔工具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734550" y="2314575"/>
            <a:ext cx="17716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F4C81"/>
                </a:soli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734550" y="27527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阶段全部交付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7772400" y="3114675"/>
            <a:ext cx="3771900" cy="933450"/>
          </a:xfrm>
          <a:prstGeom prst="roundRect">
            <a:avLst>
              <a:gd name="adj" fmla="val 8163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7772400" y="3114675"/>
            <a:ext cx="3771900" cy="933450"/>
          </a:xfrm>
          <a:custGeom>
            <a:pathLst>
              <a:path w="396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590C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943850" y="3248025"/>
            <a:ext cx="3390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4C81"/>
                </a:solidFill>
                <a:latin typeface="Microsoft YaHei"/>
                <a:ea typeface="Microsoft YaHei"/>
              </a:rPr>
              <a:t>九个工具意味着复杂度在编排与治理，不在</a:t>
            </a:r>
            <a:r>
              <a:rPr lang="en-US" sz="1350">
                <a:solidFill>
                  <a:srgbClr val="0F4C81"/>
                </a:solidFill>
                <a:latin typeface="Microsoft YaHei"/>
                <a:ea typeface="Microsoft YaHei"/>
              </a:rPr>
              <a:t xml:space="preserve"> CRUD——</a:t>
            </a:r>
            <a:r>
              <a:rPr lang="zh-CN" sz="1350">
                <a:solidFill>
                  <a:srgbClr val="0F4C81"/>
                </a:solidFill>
                <a:latin typeface="Microsoft YaHei"/>
                <a:ea typeface="Microsoft YaHei"/>
              </a:rPr>
              <a:t>这也是后面所有亮点的主线。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550545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面试讲解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115675" y="55054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2" name="" descr="&lt;Slide style={{ width: 1280, height: 720, background: '#FAFCFE', padding: '0 72px', overflow: 'hidden' }}&gt;&#10;  &lt;Box style={{ paddingTop: 26 }}&gt;&#10;    &lt;Text style={{ fontSize: 34, fontWeight: 'bold', color: '#0F4C81' }}&gt;系统架构与技术栈&lt;/Text&gt;&#10;    &lt;Box style={{ width: 36, height: 4, background: '#E8590C', marginTop: 10 }} /&gt;&#10;  &lt;/Box&gt;&#10;  &lt;Box style={{ flexDirection: 'row', gap: 40, marginTop: 26, height: 448 }}&gt;&#10;    &lt;Box style={{ width: 620, background: '#FFFFFF', border: '0.5px solid #DCE9F5', borderRadius: 12, padding: 16, justifyContent: 'center' }}&gt;&#10;      &lt;svg width={588} height={416} viewBox='0 0 588 416'&gt;&#10;        &lt;rect x='20' y='10' width='360' height='52' rx='8' fill='#DCE9F5' /&gt;&#10;        &lt;text x='200' y='42' textAnchor='middle' dominantBaseline='middle' fill='#0F4C81' fontSize='17' fontWeight='bold'&gt;前端 Vue3 · Pinia · Element Plus&lt;/text&gt;&#10;        &lt;line x1='200' y1='62' x2='200' y2='92' stroke='#7BA7D9' strokeWidth='1.5' /&gt;&#10;        &lt;text x='214' y='80' fill='#93A9BD' fontSize='12'&gt;Nginx 反代 /api · SSE 不缓冲&lt;/text&gt;&#10;        &lt;rect x='20' y='92' width='360' height='52' rx='8' fill='#DCE9F5' /&gt;&#10;        &lt;text x='200' y='124' textAnchor='middle' dominantBaseline='middle' fill='#0F4C81' fontSize='17' fontWeight='bold'&gt;API 层 FastAPI Router · 统一信封&lt;/text&gt;&#10;        &lt;line x1='200' y1='144' x2='200' y2='174' stroke='#7BA7D9' strokeWidth='1.5' /&gt;&#10;        &lt;rect x='20' y='174' width='360' height='118' rx='8' fill='#0F4C81' /&gt;&#10;        &lt;text x='200' y='198' textAnchor='middle' fill='#FFFFFF' fontSize='16' fontWeight='bold'&gt;服务层（核心）&lt;/text&gt;&#10;        &lt;rect x='34' y='216' width='158' height='34' rx='6' fill='rgba(255,255,255,0.16)' /&gt;&#10;        &lt;text x='113' y='239' textAnchor='middle' dominantBaseline='middle' fill='#FFFFFF' fontSize='14'&gt;Agent 工具循环&lt;/text&gt;&#10;        &lt;rect x='208' y='216' width='158' height='34' rx='6' fill='rgba(255,255,255,0.16)' /&gt;&#10;        &lt;text x='287' y='239' textAnchor='middle' dominantBaseline='middle' fill='#FFFFFF' fontSize='14'&gt;检索与重排&lt;/text&gt;&#10;        &lt;rect x='34' y='256' width='158' height='28' rx='6' fill='rgba(255,255,255,0.16)' /&gt;&#10;        &lt;text x='113' y='276' textAnchor='middle' dominantBaseline='middle' fill='#FFFFFF' fontSize='14'&gt;上下文压缩&lt;/text&gt;&#10;        &lt;rect x='208' y='256' width='158' height='28' rx='6' fill='rgba(255,255,255,0.16)' /&gt;&#10;        &lt;text x='287' y='276' textAnchor='middle' dominantBaseline='middle' fill='#FFFFFF' fontSize='14'&gt;幻觉校验&lt;/text&gt;&#10;        &lt;line x1='200' y1='292' x2='200' y2='322' stroke='#7BA7D9' strokeWidth='1.5' /&gt;&#10;        &lt;rect x='20' y='322' width='360' height='52' rx='8' fill='#DCE9F5' /&gt;&#10;        &lt;text x='200' y='354' textAnchor='middle' dominantBaseline='middle' fill='#0F4C81' fontSize='17' fontWeight='bold'&gt;持久层 SQLAlchemy 2.0 · MySQL&lt;/text&gt;&#10;        &lt;line x1='380' y1='233' x2='420' y2='233' stroke='#7BA7D9' strokeWidth='1.5' strokeDasharray='4 3' /&gt;&#10;        &lt;rect x='420' y='120' width='158' height='226' rx='8' fill='none' stroke='#7BA7D9' strokeWidth='1.2' strokeDasharray='5 4' /&gt;&#10;        &lt;text x='499' y='148' textAnchor='middle' fill='#5E7B99' fontSize='14' fontWeight='bold'&gt;外部依赖&lt;/text&gt;&#10;        &lt;text x='499' y='190' textAnchor='middle' fill='#1F2D3D' fontSize='14'&gt;通义 LLM&lt;/text&gt;&#10;        &lt;text x='499' y='222' textAnchor='middle' fill='#1F2D3D' fontSize='14'&gt;text-embedding-v3&lt;/text&gt;&#10;        &lt;text x='499' y='254' textAnchor='middle' fill='#1F2D3D' fontSize='14'&gt;FAISS 向量索引&lt;/text&gt;&#10;        &lt;text x='499' y='286' textAnchor='middle' fill='#1F2D3D' fontSize='14'&gt;BM25 语料&lt;/text&gt;&#10;        &lt;text x='294' y='400' textAnchor='middle' fill='#93A9BD' fontSize='13'&gt;分层职责：API 薄、服务层厚、持久层只做事务&lt;/text&gt;&#10;      &lt;/svg&gt;&#10;    &lt;/Box&gt;&#10;    &lt;Box style={{ flex: 1, flexDirection: 'column', gap: 18 }}&gt;&#10;      &lt;Text style={{ fontSize: 20, color: '#1F2D3D', lineHeight: 1.65 }}&gt;后端 FastAPI + SQLAlchemy 2.0 + MySQL + LangChain，检索用 &lt;span style={{ fontWeight: 'bold', color: '#0F4C81' }}&gt;FAISS 向量 + BM25 混合&lt;/span&gt;；前端 Vue3 + Vite + Pinia。&lt;/Text&gt;&#10;      &lt;Box style={{ flexDirection: 'column', gap: 10 }}&gt;&#10;        &lt;Text style={{ fontSize: 17, color: '#5E7B99', lineHeight: 1.6 }}&gt;· 配置、响应信封、异常处理收口在 core 层&lt;/Text&gt;&#10;        &lt;Text style={{ fontSize: 17, color: '#5E7B99', lineHeight: 1.6 }}&gt;· 检索、评分、面试、压缩、校验均为独立服务&lt;/Text&gt;&#10;        &lt;Text style={{ fontSize: 17, color: '#5E7B99', lineHeight: 1.6 }}&gt;· 运行时产物（索引/文档）与代码严格分离&lt;/Text&gt;&#10;      &lt;/Box&gt;&#10;      &lt;Box style={{ background: '#DCE9F5', borderRadius: 8, padding: '14px 18px', borderLeft: '4px solid #E8590C' }}&gt;&#10;        &lt;Text style={{ fontSize: 18, color: '#0F4C81', lineHeight: 1.6 }}&gt;架构为「可插拔、可降级、可观测」服务：检索与治理组件都能独立替换。&lt;/Text&gt;&#10;      &lt;/Box&gt;&#10;    &lt;/Box&gt;&#10;  &lt;/Box&gt;&#10;  &lt;Box style={{ height: 60, flexDirection: 'row', alignItems: 'center', justifyContent: 'space-between' }}&gt;&#10;    &lt;Text style={{ fontSize: 12, color: '#93A9BD' }}&gt;求职助手 Agent 平台 · 面试讲解&lt;/Text&gt;&#10;    &lt;Text style={{ fontSize: 12, color: '#93A9BD' }}&gt;05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247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4C81"/>
                </a:solidFill>
                <a:latin typeface="Microsoft YaHei"/>
                <a:ea typeface="Microsoft YaHei"/>
              </a:rPr>
              <a:t>系统架构与技术栈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85800" y="733425"/>
            <a:ext cx="342900" cy="381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85800" y="1019175"/>
            <a:ext cx="5905500" cy="42672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171575"/>
            <a:ext cx="5600700" cy="396240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972300" y="1019175"/>
            <a:ext cx="45339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1F2D3D"/>
                </a:solidFill>
                <a:latin typeface="Microsoft YaHei"/>
                <a:ea typeface="Microsoft YaHei"/>
              </a:rPr>
              <a:t>后端</a:t>
            </a:r>
            <a:r>
              <a:rPr lang="en-US" sz="1500">
                <a:solidFill>
                  <a:srgbClr val="1F2D3D"/>
                </a:solidFill>
                <a:latin typeface="Microsoft YaHei"/>
                <a:ea typeface="Microsoft YaHei"/>
              </a:rPr>
              <a:t xml:space="preserve"> FastAPI + SQLAlchemy 2.0 + MySQL + LangChain</a:t>
            </a:r>
            <a:r>
              <a:rPr lang="zh-CN" sz="1500">
                <a:solidFill>
                  <a:srgbClr val="1F2D3D"/>
                </a:solidFill>
                <a:latin typeface="Microsoft YaHei"/>
                <a:ea typeface="Microsoft YaHei"/>
              </a:rPr>
              <a:t>，检索用</a:t>
            </a:r>
            <a:r>
              <a:rPr lang="en-US" sz="1500">
                <a:solidFill>
                  <a:srgbClr val="1F2D3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FAISS </a:t>
            </a:r>
            <a:r>
              <a:rPr lang="zh-CN" sz="1500" b="1">
                <a:solidFill>
                  <a:srgbClr val="0F4C81"/>
                </a:solidFill>
                <a:latin typeface="Microsoft YaHei"/>
                <a:ea typeface="Microsoft YaHei"/>
              </a:rPr>
              <a:t>向量</a:t>
            </a:r>
            <a:r>
              <a:rPr lang="en-US" sz="150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 + BM25 </a:t>
            </a:r>
            <a:r>
              <a:rPr lang="zh-CN" sz="1500" b="1">
                <a:solidFill>
                  <a:srgbClr val="0F4C81"/>
                </a:solidFill>
                <a:latin typeface="Microsoft YaHei"/>
                <a:ea typeface="Microsoft YaHei"/>
              </a:rPr>
              <a:t>混合</a:t>
            </a:r>
            <a:r>
              <a:rPr lang="zh-CN" sz="1500">
                <a:solidFill>
                  <a:srgbClr val="1F2D3D"/>
                </a:solidFill>
                <a:latin typeface="Microsoft YaHei"/>
                <a:ea typeface="Microsoft YaHei"/>
              </a:rPr>
              <a:t>；前端</a:t>
            </a:r>
            <a:r>
              <a:rPr lang="en-US" sz="1500">
                <a:solidFill>
                  <a:srgbClr val="1F2D3D"/>
                </a:solidFill>
                <a:latin typeface="Microsoft YaHei"/>
                <a:ea typeface="Microsoft YaHei"/>
              </a:rPr>
              <a:t xml:space="preserve"> Vue3 + Vite + Pinia</a:t>
            </a:r>
            <a:r>
              <a:rPr lang="zh-CN" sz="1500">
                <a:solidFill>
                  <a:srgbClr val="1F2D3D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972300" y="2324100"/>
            <a:ext cx="4533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配置、响应信封、异常处理收口在</a:t>
            </a: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 core 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972300" y="2733675"/>
            <a:ext cx="4533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检索、评分、面试、压缩、校验均为独立服务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972300" y="3143250"/>
            <a:ext cx="45339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运行时产物（索引</a:t>
            </a: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文档）与代码严格分离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7010400" y="3629025"/>
            <a:ext cx="4533900" cy="933450"/>
          </a:xfrm>
          <a:prstGeom prst="roundRect">
            <a:avLst>
              <a:gd name="adj" fmla="val 8163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7010400" y="3629025"/>
            <a:ext cx="4533900" cy="933450"/>
          </a:xfrm>
          <a:custGeom>
            <a:pathLst>
              <a:path w="476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590C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181850" y="3762375"/>
            <a:ext cx="4152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4C81"/>
                </a:solidFill>
                <a:latin typeface="Microsoft YaHei"/>
                <a:ea typeface="Microsoft YaHei"/>
              </a:rPr>
              <a:t>架构为「可插拔、可降级、可观测」服务：检索与治理组件都能独立替换。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85800" y="550545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面试讲解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115675" y="55054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77" name="" descr="&lt;Slide style={{ width: 1280, height: 720, background: '#FAFCFE', flexDirection: 'row', overflow: 'hidden' }}&gt;&#10;  &lt;Box style={{ flex: 1, height: 720 }}&gt;&#10;    &lt;Image src=&quot;assets/section_data.png&quot; style={{ width: '100%', height: '100%', objectFit: 'cover' }} /&gt;&#10;  &lt;/Box&gt;&#10;  &lt;Box style={{ width: 704, height: 720, background: 'linear-gradient(135deg, #0F4C81 0%, #2E6BA8 100%)', padding: '0 72px', justifyContent: 'center' }}&gt;&#10;    &lt;Text style={{ fontSize: 96, fontWeight: 'bold', color: 'rgba(255,255,255,0.5)', fontFamily: &quot;'Inter','Helvetica Neue',Arial,sans-serif&quot; }}&gt;02&lt;/Text&gt;&#10;    &lt;Text style={{ fontSize: 58, fontWeight: 'bold', color: '#FFFFFF', marginTop: 8 }}&gt;核心亮点与实测数据&lt;/Text&gt;&#10;    &lt;Box style={{ width: 48, height: 6, background: '#E8590C', marginTop: 26 }} /&gt;&#10;    &lt;Text style={{ fontSize: 20, color: 'rgba(255,255,255,0.85)', lineHeight: 1.7, marginTop: 24 }}&gt;每组结论都来自自建基准，而非感觉——包括一次被自己的数据否决的方案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pic>
        <p:nvPicPr>
          <p:cNvPr id="179" name=""/>
          <p:cNvPicPr>
            <a:picLocks noChangeAspect="1"/>
          </p:cNvPicPr>
          <p:nvPr/>
        </p:nvPicPr>
        <p:blipFill>
          <a:blip r:embed="rId1"/>
          <a:srcRect l="9999" t="0" r="9999" b="0"/>
          <a:stretch>
            <a:fillRect/>
          </a:stretch>
        </p:blipFill>
        <p:spPr>
          <a:xfrm rot="0" flipH="0" flipV="0">
            <a:off x="0" y="0"/>
            <a:ext cx="5486400" cy="6858000"/>
          </a:xfrm>
          <a:prstGeom prst="rect">
            <a:avLst/>
          </a:prstGeom>
          <a:ln/>
        </p:spPr>
      </p:pic>
      <p:sp>
        <p:nvSpPr>
          <p:cNvPr id="180" name=""/>
          <p:cNvSpPr/>
          <p:nvPr/>
        </p:nvSpPr>
        <p:spPr>
          <a:xfrm rot="0" flipH="0" flipV="0">
            <a:off x="5486400" y="0"/>
            <a:ext cx="6705600" cy="6858000"/>
          </a:xfrm>
          <a:prstGeom prst="rect">
            <a:avLst/>
          </a:prstGeom>
          <a:gradFill>
            <a:gsLst>
              <a:gs pos="0">
                <a:srgbClr val="0F4C81"/>
              </a:gs>
              <a:gs pos="100000">
                <a:srgbClr val="2E6B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172200" y="1847850"/>
            <a:ext cx="5334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>
                    <a:alpha val="50000"/>
                  </a:srgbClr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172200" y="3028950"/>
            <a:ext cx="53340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核心亮点与实测数据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172200" y="3943350"/>
            <a:ext cx="457200" cy="5715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172200" y="4229100"/>
            <a:ext cx="53340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每组结论都来自自建基准，而非感觉——包括一次被自己的数据否决的方案。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85" name="" descr="&lt;Slide style={{ width: 1280, height: 720, background: '#FAFCFE', padding: '0 72px', overflow: 'hidden' }}&gt;&#10;  &lt;Box style={{ flexDirection: 'row', alignItems: 'flex-end', gap: 60, marginTop: 110 }}&gt;&#10;    &lt;Box style={{ width: 520 }}&gt;&#10;      &lt;Text style={{ fontSize: 130, fontWeight: 'bold', color: '#E8590C', lineHeight: 1.0, fontFamily: &quot;'Inter','Helvetica Neue',Arial,sans-serif&quot; }}&gt;5.8×&lt;/Text&gt;&#10;      &lt;Text style={{ fontSize: 26, fontWeight: 'bold', color: '#0F4C81', marginTop: 20 }}&gt;重排耗时 21.4s → 3.7s&lt;/Text&gt;&#10;      &lt;Text style={{ fontSize: 18, color: '#5E7B99', marginTop: 8, lineHeight: 1.6 }}&gt;逐篇串行 N 次 LLM 调用，重构为 listwise 单次调用；Top-4 重合率 0.71，质量无损失。&lt;/Text&gt;&#10;    &lt;/Box&gt;&#10;    &lt;Box style={{ flex: 1, flexDirection: 'column', gap: 30, paddingBottom: 6 }}&gt;&#10;      &lt;Box style={{ flexDirection: 'row', alignItems: 'center', gap: 24 }}&gt;&#10;        &lt;Text style={{ fontSize: 52, fontWeight: 'bold', color: '#0F4C81', width: 200, fontFamily: &quot;'Inter','Helvetica Neue',Arial,sans-serif&quot; }}&gt;3.7s&lt;/Text&gt;&#10;        &lt;Text style={{ fontSize: 18, color: '#5E7B99', flex: 1, lineHeight: 1.55 }}&gt;首字节 TTFF 从 15~30s 降至 3.7s，用户感知等待净减约 15 秒。&lt;/Text&gt;&#10;      &lt;/Box&gt;&#10;      &lt;Box style={{ height: 1, background: '#DCE9F5' }} /&gt;&#10;      &lt;Box style={{ flexDirection: 'row', alignItems: 'center', gap: 24 }}&gt;&#10;        &lt;Text style={{ fontSize: 52, fontWeight: 'bold', color: '#0F4C81', width: 200, fontFamily: &quot;'Inter','Helvetica Neue',Arial,sans-serif&quot; }}&gt;0.14~0.33&lt;/Text&gt;&#10;        &lt;Text style={{ fontSize: 18, color: '#5E7B99', flex: 1, lineHeight: 1.55 }}&gt;RRF 与 LLM 排序的 Top-4 重合率——零成本方案被自建基准否决。&lt;/Text&gt;&#10;      &lt;/Box&gt;&#10;      &lt;Box style={{ height: 1, background: '#DCE9F5' }} /&gt;&#10;      &lt;Box style={{ flexDirection: 'row', alignItems: 'center', gap: 24 }}&gt;&#10;        &lt;Text style={{ fontSize: 52, fontWeight: 'bold', color: '#0F4C81', width: 200, fontFamily: &quot;'Inter','Helvetica Neue',Arial,sans-serif&quot; }}&gt;155 项&lt;/Text&gt;&#10;        &lt;Text style={{ fontSize: 18, color: '#5E7B99', flex: 1, lineHeight: 1.55 }}&gt;pytest 全离线零网络，覆盖降级链、事件顺序契约与降级信封。&lt;/Text&gt;&#10;      &lt;/Box&gt;&#10;    &lt;/Box&gt;&#10;  &lt;/Box&gt;&#10;  &lt;Box style={{ background: '#DCE9F5', borderRadius: 10, padding: '18px 28px', marginTop: 56, borderLeft: '5px solid #E8590C' }}&gt;&#10;    &lt;Text style={{ fontSize: 21, color: '#0F4C81', lineHeight: 1.6 }}&gt;先建基准、再动手优化、接受被数据否决——这是本项目的工程方法论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1457325"/>
            <a:ext cx="4953000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E8590C"/>
                </a:solidFill>
                <a:latin typeface="Inter"/>
                <a:ea typeface="Inter"/>
              </a:rPr>
              <a:t>5.8×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85800" y="3133725"/>
            <a:ext cx="4953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4C81"/>
                </a:solidFill>
                <a:latin typeface="Microsoft YaHei"/>
                <a:ea typeface="Microsoft YaHei"/>
              </a:rPr>
              <a:t>重排耗时</a:t>
            </a:r>
            <a:r>
              <a:rPr lang="en-US" sz="195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 21.4s → 3.7s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85800" y="3514725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逐篇串行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次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调用，重构为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listwise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单次调用；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Top-4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重合率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0.71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，质量无损失。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210300" y="1066800"/>
            <a:ext cx="1905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0F4C81"/>
                </a:solidFill>
                <a:latin typeface="Inter"/>
                <a:ea typeface="Inter"/>
              </a:rPr>
              <a:t>3.7s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343900" y="104775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首字节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TTFF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从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15~30s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降至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3.7s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，用户感知等待净减约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秒。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210300" y="1971675"/>
            <a:ext cx="5295900" cy="9525"/>
          </a:xfrm>
          <a:prstGeom prst="rect">
            <a:avLst/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210300" y="2286000"/>
            <a:ext cx="1905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0F4C81"/>
                </a:solidFill>
                <a:latin typeface="Inter"/>
                <a:ea typeface="Inter"/>
              </a:rPr>
              <a:t>0.14~0.33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343900" y="226695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RRF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排序的</a:t>
            </a: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 Top-4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重合率——零成本方案被自建基准否决。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210300" y="3190875"/>
            <a:ext cx="5295900" cy="9525"/>
          </a:xfrm>
          <a:prstGeom prst="rect">
            <a:avLst/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210300" y="3505200"/>
            <a:ext cx="1905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0F4C81"/>
                </a:solidFill>
                <a:latin typeface="Inter"/>
                <a:ea typeface="Inter"/>
              </a:rPr>
              <a:t xml:space="preserve">155 </a:t>
            </a:r>
            <a:r>
              <a:rPr lang="zh-CN" sz="3900" b="1">
                <a:solidFill>
                  <a:srgbClr val="0F4C81"/>
                </a:solidFill>
                <a:latin typeface="Inter"/>
                <a:ea typeface="Inter"/>
              </a:rPr>
              <a:t>项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43900" y="348615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5E7B99"/>
                </a:solidFill>
                <a:latin typeface="Microsoft YaHei"/>
                <a:ea typeface="Microsoft YaHei"/>
              </a:rPr>
              <a:t xml:space="preserve">pytest </a:t>
            </a:r>
            <a:r>
              <a:rPr lang="zh-CN" sz="1350">
                <a:solidFill>
                  <a:srgbClr val="5E7B99"/>
                </a:solidFill>
                <a:latin typeface="Microsoft YaHei"/>
                <a:ea typeface="Microsoft YaHei"/>
              </a:rPr>
              <a:t>全离线零网络，覆盖降级链、事件顺序契约与降级信封。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733425" y="4714875"/>
            <a:ext cx="10820400" cy="733425"/>
          </a:xfrm>
          <a:prstGeom prst="roundRect">
            <a:avLst>
              <a:gd name="adj" fmla="val 12987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733425" y="4714875"/>
            <a:ext cx="10820400" cy="733425"/>
          </a:xfrm>
          <a:custGeom>
            <a:pathLst>
              <a:path w="1136" h="77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2"/>
                </a:lnTo>
                <a:cubicBezTo>
                  <a:pt x="5" y="74"/>
                  <a:pt x="7" y="76"/>
                  <a:pt x="9" y="77"/>
                </a:cubicBezTo>
                <a:cubicBezTo>
                  <a:pt x="4" y="76"/>
                  <a:pt x="0" y="72"/>
                  <a:pt x="0" y="6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8590C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00125" y="4886325"/>
            <a:ext cx="10239375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0F4C81"/>
                </a:solidFill>
                <a:latin typeface="Microsoft YaHei"/>
                <a:ea typeface="Microsoft YaHei"/>
              </a:rPr>
              <a:t>先建基准、再动手优化、接受被数据否决——这是本项目的工程方法论。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1" name="" descr="&lt;Slide style={{ width: 1280, height: 720, background: '#FAFCFE', padding: '0 72px', overflow: 'hidden' }}&gt;&#10;  &lt;Box style={{ paddingTop: 26 }}&gt;&#10;    &lt;Text style={{ fontSize: 34, fontWeight: 'bold', color: '#0F4C81' }}&gt;Agent 工具循环与容错&lt;/Text&gt;&#10;    &lt;Box style={{ width: 36, height: 4, background: '#E8590C', marginTop: 10 }} /&gt;&#10;  &lt;/Box&gt;&#10;  &lt;Box style={{ flexDirection: 'row', gap: 36, marginTop: 24, height: 450 }}&gt;&#10;    &lt;Box style={{ width: 700, background: '#FFFFFF', border: '0.5px solid #DCE9F5', borderRadius: 12, padding: 14, justifyContent: 'center' }}&gt;&#10;      &lt;svg width={672} height={422} viewBox='0 0 672 422'&gt;&#10;        &lt;rect x='30' y='8' width='400' height='48' rx='8' fill='#DCE9F5' /&gt;&#10;        &lt;text x='230' y='38' textAnchor='middle' dominantBaseline='middle' fill='#0F4C81' fontSize='16' fontWeight='bold'&gt;System 提示 + 动态技能目录&lt;/text&gt;&#10;        &lt;line x1='230' y1='56' x2='230' y2='72' stroke='#7BA7D9' strokeWidth='1.5' /&gt;&#10;        &lt;rect x='30' y='72' width='400' height='48' rx='8' fill='#DCE9F5' /&gt;&#10;        &lt;text x='230' y='102' textAnchor='middle' dominantBaseline='middle' fill='#0F4C81' fontSize='16' fontWeight='bold'&gt;History 压缩后历史 + Human 输入&lt;/text&gt;&#10;        &lt;line x1='230' y1='120' x2='230' y2='136' stroke='#7BA7D9' strokeWidth='1.5' /&gt;&#10;        &lt;rect x='30' y='136' width='400' height='48' rx='8' fill='#0F4C81' /&gt;&#10;        &lt;text x='230' y='166' textAnchor='middle' dominantBaseline='middle' fill='#FFFFFF' fontSize='16' fontWeight='bold'&gt;AIMessage · tool_calls&lt;/text&gt;&#10;        &lt;line x1='230' y1='184' x2='230' y2='200' stroke='#7BA7D9' strokeWidth='1.5' /&gt;&#10;        &lt;rect x='30' y='200' width='400' height='48' rx='8' fill='#0F4C81' /&gt;&#10;        &lt;text x='230' y='230' textAnchor='middle' dominantBaseline='middle' fill='#FFFFFF' fontSize='16' fontWeight='bold'&gt;ToolMessage ×N（结果回灌）&lt;/text&gt;&#10;        &lt;path d='M 470 224 L 470 166' stroke='#E8590C' strokeWidth='2' fill='none' /&gt;&#10;        &lt;path d='M 470 166 L 463 178 M 470 166 L 477 178' stroke='#E8590C' strokeWidth='2' fill='none' /&gt;&#10;        &lt;line x1='430' y1='224' x2='470' y2='224' stroke='#E8590C' strokeWidth='2' /&gt;&#10;        &lt;line x1='430' y1='166' x2='470' y2='166' stroke='#E8590C' strokeWidth='2' /&gt;&#10;        &lt;text x='486' y='200' fill='#E8590C' fontSize='14' fontWeight='bold'&gt;循环 ≤ 6 轮&lt;/text&gt;&#10;        &lt;line x1='230' y1='248' x2='230' y2='264' stroke='#7BA7D9' strokeWidth='1.5' /&gt;&#10;        &lt;rect x='30' y='264' width='400' height='48' rx='8' fill='#7BA7D9' /&gt;&#10;        &lt;text x='230' y='294' textAnchor='middle' dominantBaseline='middle' fill='#FFFFFF' fontSize='16' fontWeight='bold'&gt;模型不再发起调用 → 最终 AIMessage&lt;/text&gt;&#10;        &lt;rect x='30' y='340' width='400' height='60' rx='8' fill='none' stroke='#E8590C' strokeWidth='1.5' /&gt;&#10;        &lt;text x='50' y='364' fill='#E8590C' fontSize='14' fontWeight='bold'&gt;工具异常 → 结构化错误文案回灌&lt;/text&gt;&#10;        &lt;text x='50' y='388' fill='#5E7B99' fontSize='13'&gt;tool_call 与 ToolMessage 一一对应，消息序列永不断裂&lt;/text&gt;&#10;        &lt;line x1='430' y1='364' x2='470' y2='364' stroke='#E8590C' strokeWidth='1.5' strokeDasharray='4 3' /&gt;&#10;        &lt;line x1='470' y1='364' x2='470' y2='240' stroke='#E8590C' strokeWidth='1.5' strokeDasharray='4 3' /&gt;&#10;      &lt;/svg&gt;&#10;    &lt;/Box&gt;&#10;    &lt;Box style={{ flex: 1, flexDirection: 'column', gap: 22 }}&gt;&#10;      &lt;Box&gt;&#10;        &lt;Text style={{ fontSize: 19, fontWeight: 'bold', color: '#0F4C81' }}&gt;自研生成器版 ReAct&lt;/Text&gt;&#10;        &lt;Text style={{ fontSize: 17, color: '#5E7B99', lineHeight: 1.6, marginTop: 4 }}&gt;九个工具、硬上限六轮；不用框架黑盒，为的是流式进度与降级都能插手。&lt;/Text&gt;&#10;      &lt;/Box&gt;&#10;      &lt;Box&gt;&#10;        &lt;Text style={{ fontSize: 19, fontWeight: 'bold', color: '#0F4C81' }}&gt;错误也是信息&lt;/Text&gt;&#10;        &lt;Text style={{ fontSize: 17, color: '#5E7B99', lineHeight: 1.6, marginTop: 4 }}&gt;异常以字符串回灌，模型下一轮可自行补参重试，而不是整轮失败。&lt;/Text&gt;&#10;      &lt;/Box&gt;&#10;      &lt;Box&gt;&#10;        &lt;Text style={{ fontSize: 19, fontWeight: 'bold', color: '#0F4C81' }}&gt;轮次耗尽优雅降级&lt;/Text&gt;&#10;        &lt;Text style={{ fontSize: 17, color: '#5E7B99', lineHeight: 1.6, marginTop: 4 }}&gt;返回最后一段中间内容并标记 degraded——降级可以，但必须让用户知道。&lt;/Text&gt;&#10;      &lt;/Box&gt;&#10;      &lt;Box&gt;&#10;        &lt;Text style={{ fontSize: 19, fontWeight: 'bold', color: '#0F4C81' }}&gt;渐进式技能加载&lt;/Text&gt;&#10;        &lt;Text style={{ fontSize: 17, color: '#5E7B99', lineHeight: 1.6, marginTop: 4 }}&gt;系统提示只放几十 token 的目录，完整指南按需经工具进上下文。&lt;/Text&gt;&#10;      &lt;/Box&gt;&#10;    &lt;/Box&gt;&#10;  &lt;/Box&gt;&#10;  &lt;Box style={{ height: 60, flexDirection: 'row', alignItems: 'center', justifyContent: 'space-between' }}&gt;&#10;    &lt;Text style={{ fontSize: 12, color: '#93A9BD' }}&gt;求职助手 Agent 平台 · 面试讲解&lt;/Text&gt;&#10;    &lt;Text style={{ fontSize: 12, color: '#93A9BD' }}&gt;08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247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550" b="1">
                <a:solidFill>
                  <a:srgbClr val="0F4C81"/>
                </a:solidFill>
                <a:latin typeface="Microsoft YaHei"/>
                <a:ea typeface="Microsoft YaHei"/>
              </a:rPr>
              <a:t>工具循环与容错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733425"/>
            <a:ext cx="342900" cy="381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85800" y="1000125"/>
            <a:ext cx="6667500" cy="42862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133475"/>
            <a:ext cx="6400800" cy="401955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696200" y="1000125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4C81"/>
                </a:solidFill>
                <a:latin typeface="Microsoft YaHei"/>
                <a:ea typeface="Microsoft YaHei"/>
              </a:rPr>
              <a:t>自研生成器版</a:t>
            </a:r>
            <a:r>
              <a:rPr lang="en-US" sz="1425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 ReAct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696200" y="1257300"/>
            <a:ext cx="3810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九个工具、硬上限六轮；不用框架黑盒，为的是流式进度与降级都能插手。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696200" y="209550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4C81"/>
                </a:solidFill>
                <a:latin typeface="Microsoft YaHei"/>
                <a:ea typeface="Microsoft YaHei"/>
              </a:rPr>
              <a:t>错误也是信息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96200" y="2352675"/>
            <a:ext cx="3810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异常以字符串回灌，模型下一轮可自行补参重试，而不是整轮失败。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696200" y="3190875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4C81"/>
                </a:solidFill>
                <a:latin typeface="Microsoft YaHei"/>
                <a:ea typeface="Microsoft YaHei"/>
              </a:rPr>
              <a:t>轮次耗尽优雅降级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696200" y="3448050"/>
            <a:ext cx="3810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返回最后一段中间内容并标记</a:t>
            </a: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 degraded——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降级可以，但必须让用户知道。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696200" y="428625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4C81"/>
                </a:solidFill>
                <a:latin typeface="Microsoft YaHei"/>
                <a:ea typeface="Microsoft YaHei"/>
              </a:rPr>
              <a:t>渐进式技能加载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696200" y="4543425"/>
            <a:ext cx="3810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系统提示只放几十</a:t>
            </a: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的目录，完整指南按需经工具进上下文。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550545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面试讲解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115675" y="55054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7" name="" descr="&lt;Slide style={{ width: 1280, height: 720, background: '#FAFCFE', padding: '0 72px', overflow: 'hidden' }}&gt;&#10;  &lt;Box style={{ paddingTop: 26 }}&gt;&#10;    &lt;Text style={{ fontSize: 34, fontWeight: 'bold', color: '#0F4C81' }}&gt;混合检索与 listwise 重排&lt;/Text&gt;&#10;    &lt;Box style={{ width: 36, height: 4, background: '#E8590C', marginTop: 10 }} /&gt;&#10;  &lt;/Box&gt;&#10;  &lt;Box style={{ flexDirection: 'row', gap: 40, marginTop: 24, height: 450 }}&gt;&#10;    &lt;Box style={{ width: 620, background: '#FFFFFF', border: '0.5px solid #DCE9F5', borderRadius: 12, padding: 14, justifyContent: 'center' }}&gt;&#10;      &lt;svg width={592} height={422} viewBox='0 0 592 422'&gt;&#10;        &lt;rect x='16' y='24' width='150' height='56' rx='8' fill='#0F4C81' /&gt;&#10;        &lt;text x='91' y='46' textAnchor='middle' fill='#FFFFFF' fontSize='14' fontWeight='bold'&gt;FAISS 向量路&lt;/text&gt;&#10;        &lt;text x='91' y='66' textAnchor='middle' fill='rgba(255,255,255,0.8)' fontSize='12'&gt;吃语义&lt;/text&gt;&#10;        &lt;rect x='16' y='110' width='150' height='56' rx='8' fill='#7BA7D9' /&gt;&#10;        &lt;text x='91' y='132' textAnchor='middle' fill='#FFFFFF' fontSize='14' fontWeight='bold'&gt;BM25 关键词路&lt;/text&gt;&#10;        &lt;text x='91' y='152' textAnchor='middle' fill='rgba(255,255,255,0.85)' fontSize='12'&gt;吃词面 · 各取 2×limit&lt;/text&gt;&#10;        &lt;line x1='166' y1='52' x2='206' y2='86' stroke='#7BA7D9' strokeWidth='1.5' /&gt;&#10;        &lt;line x1='166' y1='138' x2='206' y2='104' stroke='#7BA7D9' strokeWidth='1.5' /&gt;&#10;        &lt;rect x='206' y='67' width='110' height='56' rx='8' fill='#DCE9F5' /&gt;&#10;        &lt;text x='261' y='89' textAnchor='middle' fill='#0F4C81' fontSize='14' fontWeight='bold'&gt;去重合并&lt;/text&gt;&#10;        &lt;text x='261' y='109' textAnchor='middle' fill='#5E7B99' fontSize='12'&gt;先扩召回&lt;/text&gt;&#10;        &lt;line x1='316' y1='95' x2='350' y2='95' stroke='#7BA7D9' strokeWidth='1.5' /&gt;&#10;        &lt;rect x='350' y='67' width='118' height='56' rx='8' fill='#0F4C81' /&gt;&#10;        &lt;text x='409' y='89' textAnchor='middle' fill='#FFFFFF' fontSize='14' fontWeight='bold'&gt;listwise 精排&lt;/text&gt;&#10;        &lt;text x='409' y='109' textAnchor='middle' fill='rgba(255,255,255,0.8)' fontSize='12'&gt;单次调用出序号&lt;/text&gt;&#10;        &lt;line x1='468' y1='95' x2='496' y2='95' stroke='#7BA7D9' strokeWidth='1.5' /&gt;&#10;        &lt;rect x='496' y='67' width='82' height='56' rx='8' fill='#DCE9F5' /&gt;&#10;        &lt;text x='537' y='89' textAnchor='middle' fill='#0F4C81' fontSize='14' fontWeight='bold'&gt;Top-4&lt;/text&gt;&#10;        &lt;text x='537' y='109' textAnchor='middle' fill='#5E7B99' fontSize='12'&gt;入上下文&lt;/text&gt;&#10;        &lt;text x='296' y='158' textAnchor='middle' fill='#93A9BD' fontSize='13'&gt;逐字段字符上限，防撑爆 prompt；漏编号按原序补齐&lt;/text&gt;&#10;        &lt;line x1='20' y1='188' x2='572' y2='188' stroke='#DCE9F5' strokeWidth='1' /&gt;&#10;        &lt;text x='296' y='216' textAnchor='middle' fill='#5E7B99' fontSize='14' fontWeight='bold'&gt;检索三级降级 · 保证可用&lt;/text&gt;&#10;        &lt;rect x='30' y='238' width='160' height='52' rx='8' fill='#0F4C81' /&gt;&#10;        &lt;text x='110' y='258' textAnchor='middle' fill='#FFFFFF' fontSize='14' fontWeight='bold'&gt;会话私有索引&lt;/text&gt;&#10;        &lt;text x='110' y='278' textAnchor='middle' fill='rgba(255,255,255,0.8)' fontSize='12'&gt;上传文档即时建&lt;/text&gt;&#10;        &lt;line x1='190' y1='264' x2='216' y2='264' stroke='#7BA7D9' strokeWidth='1.5' /&gt;&#10;        &lt;rect x='216' y='238' width='160' height='52' rx='8' fill='#7BA7D9' /&gt;&#10;        &lt;text x='296' y='258' textAnchor='middle' fill='#FFFFFF' fontSize='14' fontWeight='bold'&gt;公共全局索引&lt;/text&gt;&#10;        &lt;text x='296' y='278' textAnchor='middle' fill='rgba(255,255,255,0.85)' fontSize='12'&gt;阈值+兜底两级&lt;/text&gt;&#10;        &lt;line x1='376' y1='264' x2='402' y2='264' stroke='#7BA7D9' strokeWidth='1.5' /&gt;&#10;        &lt;rect x='402' y='238' width='160' height='52' rx='8' fill='#DCE9F5' /&gt;&#10;        &lt;text x='482' y='258' textAnchor='middle' fill='#0F4C81' fontSize='14' fontWeight='bold'&gt;内置知识库&lt;/text&gt;&#10;        &lt;text x='482' y='278' textAnchor='middle' fill='#5E7B99' fontSize='12'&gt;无条件常驻补充&lt;/text&gt;&#10;        &lt;text x='296' y='330' textAnchor='middle' fill='#93A9BD' fontSize='13'&gt;索引重建：临时目录写入 → 成功才 rename 原子替换；增量更新失败自动退回全量&lt;/text&gt;&#10;        &lt;text x='296' y='386' textAnchor='middle' fill='#93A9BD' fontSize='13'&gt;chunk 700 / overlap 120 · 递归分隔符保语义边界 · chunk 前缀带文件名命中文件名类问题&lt;/text&gt;&#10;      &lt;/svg&gt;&#10;    &lt;/Box&gt;&#10;    &lt;Box style={{ flex: 1, flexDirection: 'column', gap: 14 }}&gt;&#10;      &lt;Box&gt;&#10;        &lt;Text style={{ fontSize: 54, fontWeight: 'bold', color: '#E8590C', fontFamily: &quot;'Inter','Helvetica Neue',Arial,sans-serif&quot; }}&gt;5.8×&lt;/Text&gt;&#10;        &lt;Text style={{ fontSize: 17, color: '#5E7B99', lineHeight: 1.55, marginTop: 4 }}&gt;重排 21.4s → 3.7s，Top-4 与逐篇打分重合率 0.71——N 次调用变一次，强制输出序号还产生严格序，避免分数退化。&lt;/Text&gt;&#10;      &lt;/Box&gt;&#10;      &lt;Box style={{ background: '#FFFFFF', border: '0.5px solid #DCE9F5', borderRadius: 8, padding: '12px 16px' }}&gt;&#10;        &lt;Text style={{ fontSize: 16, fontWeight: 'bold', color: '#0F4C81' }}&gt;RRF 被自建基准否决&lt;/Text&gt;&#10;        &lt;Text style={{ fontSize: 15, color: '#5E7B99', lineHeight: 1.55, marginTop: 4 }}&gt;与 LLM 排序 Top-4 重合率仅 0.14~0.33：BM25 按字切分，关键词路排名本身是坏的。RRF 保留为最后兜底，metadata 标注 score_source，降级不悄悄发生。&lt;/Text&gt;&#10;      &lt;/Box&gt;&#10;      &lt;Box style={{ background: '#DCE9F5', borderRadius: 8, padding: '12px 16px', borderLeft: '4px solid #E8590C' }}&gt;&#10;        &lt;Text style={{ fontSize: 17, color: '#0F4C81', lineHeight: 1.55 }}&gt;性能优化先建基准，方案要能被数据否决——这比优化成功更能证明判断力。&lt;/Text&gt;&#10;      &lt;/Box&gt;&#10;    &lt;/Box&gt;&#10;  &lt;/Box&gt;&#10;  &lt;Box style={{ height: 60, flexDirection: 'row', alignItems: 'center', justifyContent: 'space-between' }}&gt;&#10;    &lt;Text style={{ fontSize: 12, color: '#93A9BD' }}&gt;求职助手 Agent 平台 · 面试讲解&lt;/Text&gt;&#10;    &lt;Text style={{ fontSize: 12, color: '#93A9BD' }}&gt;09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247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4C81"/>
                </a:solidFill>
                <a:latin typeface="Microsoft YaHei"/>
                <a:ea typeface="Microsoft YaHei"/>
              </a:rPr>
              <a:t>混合检索与</a:t>
            </a:r>
            <a:r>
              <a:rPr lang="en-US" sz="255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 listwise </a:t>
            </a:r>
            <a:r>
              <a:rPr lang="zh-CN" sz="2550" b="1">
                <a:solidFill>
                  <a:srgbClr val="0F4C81"/>
                </a:solidFill>
                <a:latin typeface="Microsoft YaHei"/>
                <a:ea typeface="Microsoft YaHei"/>
              </a:rPr>
              <a:t>重排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85800" y="733425"/>
            <a:ext cx="342900" cy="381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685800" y="1000125"/>
            <a:ext cx="5905500" cy="42862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pic>
        <p:nvPicPr>
          <p:cNvPr id="2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133475"/>
            <a:ext cx="5638800" cy="4019550"/>
          </a:xfrm>
          <a:prstGeom prst="rect">
            <a:avLst/>
          </a:prstGeom>
          <a:ln/>
        </p:spPr>
      </p:pic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972300" y="1000125"/>
            <a:ext cx="45339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E8590C"/>
                </a:solidFill>
                <a:latin typeface="Inter"/>
                <a:ea typeface="Inter"/>
              </a:rPr>
              <a:t>5.8×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972300" y="1657350"/>
            <a:ext cx="45339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重排</a:t>
            </a: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 21.4s → 3.7s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Top-4 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与逐篇打分重合率</a:t>
            </a:r>
            <a:r>
              <a:rPr lang="en-US" sz="1275">
                <a:solidFill>
                  <a:srgbClr val="5E7B99"/>
                </a:solidFill>
                <a:latin typeface="Microsoft YaHei"/>
                <a:ea typeface="Microsoft YaHei"/>
              </a:rPr>
              <a:t xml:space="preserve"> 0.71——N </a:t>
            </a:r>
            <a:r>
              <a:rPr lang="zh-CN" sz="1275">
                <a:solidFill>
                  <a:srgbClr val="5E7B99"/>
                </a:solidFill>
                <a:latin typeface="Microsoft YaHei"/>
                <a:ea typeface="Microsoft YaHei"/>
              </a:rPr>
              <a:t>次调用变一次，强制输出序号还产生严格序，避免分数退化。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972300" y="2400300"/>
            <a:ext cx="45339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124700" y="2514600"/>
            <a:ext cx="422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RRF </a:t>
            </a:r>
            <a:r>
              <a:rPr lang="zh-CN" sz="1200" b="1">
                <a:solidFill>
                  <a:srgbClr val="0F4C81"/>
                </a:solidFill>
                <a:latin typeface="Microsoft YaHei"/>
                <a:ea typeface="Microsoft YaHei"/>
              </a:rPr>
              <a:t>被自建基准否决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124700" y="2743200"/>
            <a:ext cx="4229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排序</a:t>
            </a: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 Top-4 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重合率仅</a:t>
            </a: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 0.14~0.33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BM25 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按字切分，关键词路排名本身是坏的。</a:t>
            </a: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RRF 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保留为最后兜底，</a:t>
            </a: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metadata 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标注</a:t>
            </a: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 score_source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，降级不悄悄发生。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010400" y="3790950"/>
            <a:ext cx="4533900" cy="838200"/>
          </a:xfrm>
          <a:prstGeom prst="roundRect">
            <a:avLst>
              <a:gd name="adj" fmla="val 9091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7010400" y="3790950"/>
            <a:ext cx="4533900" cy="838200"/>
          </a:xfrm>
          <a:custGeom>
            <a:pathLst>
              <a:path w="476" h="8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84"/>
                </a:lnTo>
                <a:cubicBezTo>
                  <a:pt x="4" y="86"/>
                  <a:pt x="5" y="88"/>
                  <a:pt x="7" y="88"/>
                </a:cubicBezTo>
                <a:cubicBezTo>
                  <a:pt x="3" y="88"/>
                  <a:pt x="0" y="84"/>
                  <a:pt x="0" y="8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590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162800" y="3905250"/>
            <a:ext cx="41910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0F4C81"/>
                </a:solidFill>
                <a:latin typeface="Microsoft YaHei"/>
                <a:ea typeface="Microsoft YaHei"/>
              </a:rPr>
              <a:t>性能优化先建基准，方案要能被数据否决——这比优化成功更能证明判断力。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85800" y="550545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面试讲解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115675" y="55054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9" name="" descr="&lt;Slide style={{ width: 1280, height: 720, background: '#FAFCFE', padding: '0 72px', overflow: 'hidden' }}&gt;&#10;  &lt;Box style={{ paddingTop: 26 }}&gt;&#10;    &lt;Text style={{ fontSize: 34, fontWeight: 'bold', color: '#0F4C81' }}&gt;SSE 流式与延迟治理&lt;/Text&gt;&#10;    &lt;Box style={{ width: 36, height: 4, background: '#E8590C', marginTop: 10 }} /&gt;&#10;  &lt;/Box&gt;&#10;  &lt;Box style={{ flexDirection: 'row', gap: 40, marginTop: 24, height: 340 }}&gt;&#10;    &lt;Box style={{ width: 600 }}&gt;&#10;      &lt;Chart&#10;        style={{ width: 600, height: 300 }}&#10;        chartType='barChart'&#10;        barDirection='column'&#10;        title='关键路径耗时对比（秒）'&#10;        titleColor='#1F2D3D'&#10;        showLegend={true}&#10;        showDataLabels={true}&#10;        legendColor='#5E7B99'&#10;        axisColor='#93A9BD'&#10;        dataLabelColor='#1F2D3D'&#10;        colors={['#7BA7D9', '#E8590C']}&#10;        background='#FFFFFF'&#10;        data={[&#10;          ['指标', '优化前', '优化后'],&#10;          ['重排耗时', 21.4, 3.7],&#10;          ['首字节 TTFF', 22.5, 3.7],&#10;        ]}&#10;      /&gt;&#10;      &lt;Text style={{ fontSize: 13, color: '#93A9BD', marginTop: 8 }}&gt;* TTFF 优化前为 15~30s 区间，图中取中值 22.5s 展示&lt;/Text&gt;&#10;    &lt;/Box&gt;&#10;    &lt;Box style={{ flex: 1, flexDirection: 'column', gap: 16, justifyContent: 'center' }}&gt;&#10;      &lt;Text style={{ fontSize: 19, fontWeight: 'bold', color: '#0F4C81' }}&gt;定位：耗时结构拆解&lt;/Text&gt;&#10;      &lt;Text style={{ fontSize: 16, color: '#5E7B99', lineHeight: 1.6 }}&gt;延迟首因是单条消息内十余次串行 LLM 调用，不凭感觉优化。&lt;/Text&gt;&#10;      &lt;Text style={{ fontSize: 17, color: '#1F2D3D', lineHeight: 1.6 }}&gt;&lt;span style={{ fontWeight: 'bold', color: '#E8590C' }}&gt;1&lt;/span&gt;  重排改 listwise 单次调用&lt;/Text&gt;&#10;      &lt;Text style={{ fontSize: 17, color: '#1F2D3D', lineHeight: 1.6 }}&gt;&lt;span style={{ fontWeight: 'bold', color: '#E8590C' }}&gt;2&lt;/span&gt;  幻觉校验移出关键路径，done 后异步补发&lt;/Text&gt;&#10;      &lt;Text style={{ fontSize: 17, color: '#1F2D3D', lineHeight: 1.6 }}&gt;&lt;span style={{ fontWeight: 'bold', color: '#E8590C' }}&gt;3&lt;/span&gt;  历史摘要水位线增量持久化&lt;/Text&gt;&#10;    &lt;/Box&gt;&#10;  &lt;/Box&gt;&#10;  &lt;Box style={{ marginTop: 20, background: '#FFFFFF', border: '0.5px solid #DCE9F5', borderRadius: 10, padding: '16px 24px' }}&gt;&#10;    &lt;Box style={{ flexDirection: 'row', alignItems: 'center', gap: 10 }}&gt;&#10;      &lt;Text style={{ fontSize: 15, fontWeight: 'bold', color: '#5E7B99', width: 110 }}&gt;SSE 事件序列&lt;/Text&gt;&#10;      {['meta', 'delta', 'tool_status', 'sources', 'done', 'verification'].map((e, i) =&gt; (&#10;        &lt;Box key={i} style={{ flexDirection: 'row', alignItems: 'center', gap: 10 }}&gt;&#10;          &lt;Box style={{ background: i === 4 ? '#0F4C81' : '#DCE9F5', borderRadius: 6, padding: '6px 14px' }}&gt;&#10;            &lt;Text style={{ fontSize: 15, color: i === 4 ? '#FFFFFF' : '#0F4C81', fontWeight: 'bold', fontFamily: &quot;'Inter','Helvetica Neue',Arial,sans-serif&quot; }}&gt;{e}&lt;/Text&gt;&#10;          &lt;/Box&gt;&#10;          {i &lt; 5 &amp;&amp; &lt;Text style={{ fontSize: 14, color: '#93A9BD' }}&gt;→&lt;/Text&gt;}&#10;        &lt;/Box&gt;&#10;      ))}&#10;    &lt;/Box&gt;&#10;    &lt;Text style={{ fontSize: 16, color: '#0F4C81', lineHeight: 1.6, marginTop: 12 }}&gt;done 提前：回答态立刻完整，verification 异步补发引用与风险徽标——感知等待净减约 15 秒；事件顺序写入专项单测，改坏了会红。&lt;/Text&gt;&#10;  &lt;/Box&gt;&#10;  &lt;Box style={{ height: 56, flexDirection: 'row', alignItems: 'center', justifyContent: 'space-between' }}&gt;&#10;    &lt;Text style={{ fontSize: 12, color: '#93A9BD' }}&gt;求职助手 Agent 平台 · 面试讲解&lt;/Text&gt;&#10;    &lt;Text style={{ fontSize: 12, color: '#93A9BD' }}&gt;10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247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SSE </a:t>
            </a:r>
            <a:r>
              <a:rPr lang="zh-CN" sz="2550" b="1">
                <a:solidFill>
                  <a:srgbClr val="0F4C81"/>
                </a:solidFill>
                <a:latin typeface="Microsoft YaHei"/>
                <a:ea typeface="Microsoft YaHei"/>
              </a:rPr>
              <a:t>流式与延迟治理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85800" y="733425"/>
            <a:ext cx="342900" cy="381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graphicFrame>
        <p:nvGraphicFramePr>
          <p:cNvPr id="13" name="13"/>
          <p:cNvGraphicFramePr/>
          <p:nvPr/>
        </p:nvGraphicFramePr>
        <p:xfrm rot="0" flipH="0" flipV="0">
          <a:off x="685800" y="1000125"/>
          <a:ext cx="5715000" cy="2857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85800" y="3933825"/>
            <a:ext cx="571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3A9BD"/>
                </a:solidFill>
                <a:latin typeface="Microsoft YaHei"/>
                <a:ea typeface="Microsoft YaHei"/>
              </a:rPr>
              <a:t xml:space="preserve">* TTFF </a:t>
            </a:r>
            <a:r>
              <a:rPr lang="zh-CN" sz="975">
                <a:solidFill>
                  <a:srgbClr val="93A9BD"/>
                </a:solidFill>
                <a:latin typeface="Microsoft YaHei"/>
                <a:ea typeface="Microsoft YaHei"/>
              </a:rPr>
              <a:t>优化前为</a:t>
            </a:r>
            <a:r>
              <a:rPr lang="en-US" sz="975">
                <a:solidFill>
                  <a:srgbClr val="93A9BD"/>
                </a:solidFill>
                <a:latin typeface="Microsoft YaHei"/>
                <a:ea typeface="Microsoft YaHei"/>
              </a:rPr>
              <a:t xml:space="preserve"> 15~30s </a:t>
            </a:r>
            <a:r>
              <a:rPr lang="zh-CN" sz="975">
                <a:solidFill>
                  <a:srgbClr val="93A9BD"/>
                </a:solidFill>
                <a:latin typeface="Microsoft YaHei"/>
                <a:ea typeface="Microsoft YaHei"/>
              </a:rPr>
              <a:t>区间，图中取中值</a:t>
            </a:r>
            <a:r>
              <a:rPr lang="en-US" sz="975">
                <a:solidFill>
                  <a:srgbClr val="93A9BD"/>
                </a:solidFill>
                <a:latin typeface="Microsoft YaHei"/>
                <a:ea typeface="Microsoft YaHei"/>
              </a:rPr>
              <a:t xml:space="preserve"> 22.5s </a:t>
            </a:r>
            <a:r>
              <a:rPr lang="zh-CN" sz="975">
                <a:solidFill>
                  <a:srgbClr val="93A9BD"/>
                </a:solidFill>
                <a:latin typeface="Microsoft YaHei"/>
                <a:ea typeface="Microsoft YaHei"/>
              </a:rPr>
              <a:t>展示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781800" y="1590675"/>
            <a:ext cx="4724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4C81"/>
                </a:solidFill>
                <a:latin typeface="Microsoft YaHei"/>
                <a:ea typeface="Microsoft YaHei"/>
              </a:rPr>
              <a:t>定位：耗时结构拆解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781800" y="1962150"/>
            <a:ext cx="4724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E7B99"/>
                </a:solidFill>
                <a:latin typeface="Microsoft YaHei"/>
                <a:ea typeface="Microsoft YaHei"/>
              </a:rPr>
              <a:t>延迟首因是单条消息内十余次串行</a:t>
            </a:r>
            <a:r>
              <a:rPr lang="en-US" sz="1200">
                <a:solidFill>
                  <a:srgbClr val="5E7B99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200">
                <a:solidFill>
                  <a:srgbClr val="5E7B99"/>
                </a:solidFill>
                <a:latin typeface="Microsoft YaHei"/>
                <a:ea typeface="Microsoft YaHei"/>
              </a:rPr>
              <a:t>调用，不凭感觉优化。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781800" y="2409825"/>
            <a:ext cx="47244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E8590C"/>
                </a:solidFill>
                <a:latin typeface="Microsoft YaHei"/>
                <a:ea typeface="Microsoft YaHei"/>
              </a:rPr>
              <a:t>1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 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重排改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 listwise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单次调用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781800" y="2876550"/>
            <a:ext cx="47244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E8590C"/>
                </a:solidFill>
                <a:latin typeface="Microsoft YaHei"/>
                <a:ea typeface="Microsoft YaHei"/>
              </a:rPr>
              <a:t>2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 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幻觉校验移出关键路径，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done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后异步补发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781800" y="3343275"/>
            <a:ext cx="47244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E8590C"/>
                </a:solidFill>
                <a:latin typeface="Microsoft YaHei"/>
                <a:ea typeface="Microsoft YaHei"/>
              </a:rPr>
              <a:t>3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 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历史摘要水位线增量持久化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85800" y="4429125"/>
            <a:ext cx="10820400" cy="100012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4400" y="46386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E7B99"/>
                </a:solidFill>
                <a:latin typeface="Microsoft YaHei"/>
                <a:ea typeface="Microsoft YaHei"/>
              </a:rPr>
              <a:t xml:space="preserve">SSE </a:t>
            </a:r>
            <a:r>
              <a:rPr lang="zh-CN" sz="1125" b="1">
                <a:solidFill>
                  <a:srgbClr val="5E7B99"/>
                </a:solidFill>
                <a:latin typeface="Microsoft YaHei"/>
                <a:ea typeface="Microsoft YaHei"/>
              </a:rPr>
              <a:t>事件序列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2057400" y="4581525"/>
            <a:ext cx="609600" cy="285750"/>
          </a:xfrm>
          <a:prstGeom prst="roundRect">
            <a:avLst>
              <a:gd name="adj" fmla="val 2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190750" y="463867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4C81"/>
                </a:solidFill>
                <a:latin typeface="Inter"/>
                <a:ea typeface="Inter"/>
              </a:rPr>
              <a:t>meta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762250" y="46482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3A9B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2990850" y="4581525"/>
            <a:ext cx="609600" cy="285750"/>
          </a:xfrm>
          <a:prstGeom prst="roundRect">
            <a:avLst>
              <a:gd name="adj" fmla="val 2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124200" y="463867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4C81"/>
                </a:solidFill>
                <a:latin typeface="Inter"/>
                <a:ea typeface="Inter"/>
              </a:rPr>
              <a:t>delta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695700" y="46482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3A9B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924300" y="4581525"/>
            <a:ext cx="1038225" cy="285750"/>
          </a:xfrm>
          <a:prstGeom prst="roundRect">
            <a:avLst>
              <a:gd name="adj" fmla="val 2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057650" y="463867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4C81"/>
                </a:solidFill>
                <a:latin typeface="Inter"/>
                <a:ea typeface="Inter"/>
              </a:rPr>
              <a:t>tool_status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057775" y="46482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3A9B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286375" y="4581525"/>
            <a:ext cx="819150" cy="285750"/>
          </a:xfrm>
          <a:prstGeom prst="roundRect">
            <a:avLst>
              <a:gd name="adj" fmla="val 2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419725" y="4638675"/>
            <a:ext cx="55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4C81"/>
                </a:solidFill>
                <a:latin typeface="Inter"/>
                <a:ea typeface="Inter"/>
              </a:rPr>
              <a:t>sources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200775" y="46482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3A9B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429375" y="4581525"/>
            <a:ext cx="609600" cy="285750"/>
          </a:xfrm>
          <a:prstGeom prst="roundRect">
            <a:avLst>
              <a:gd name="adj" fmla="val 20000"/>
            </a:avLst>
          </a:prstGeom>
          <a:solidFill>
            <a:srgbClr val="0F4C81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562725" y="463867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done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134225" y="46482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93A9BD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362825" y="4581525"/>
            <a:ext cx="1038225" cy="285750"/>
          </a:xfrm>
          <a:prstGeom prst="roundRect">
            <a:avLst>
              <a:gd name="adj" fmla="val 2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496175" y="463867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4C81"/>
                </a:solidFill>
                <a:latin typeface="Inter"/>
                <a:ea typeface="Inter"/>
              </a:rPr>
              <a:t>verification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14400" y="4981575"/>
            <a:ext cx="10363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0F4C81"/>
                </a:solidFill>
                <a:latin typeface="Microsoft YaHei"/>
                <a:ea typeface="Microsoft YaHei"/>
              </a:rPr>
              <a:t xml:space="preserve">done </a:t>
            </a:r>
            <a:r>
              <a:rPr lang="zh-CN" sz="1200">
                <a:solidFill>
                  <a:srgbClr val="0F4C81"/>
                </a:solidFill>
                <a:latin typeface="Microsoft YaHei"/>
                <a:ea typeface="Microsoft YaHei"/>
              </a:rPr>
              <a:t>提前：回答态立刻完整，</a:t>
            </a:r>
            <a:r>
              <a:rPr lang="en-US" sz="1200">
                <a:solidFill>
                  <a:srgbClr val="0F4C81"/>
                </a:solidFill>
                <a:latin typeface="Microsoft YaHei"/>
                <a:ea typeface="Microsoft YaHei"/>
              </a:rPr>
              <a:t xml:space="preserve">verification </a:t>
            </a:r>
            <a:r>
              <a:rPr lang="zh-CN" sz="1200">
                <a:solidFill>
                  <a:srgbClr val="0F4C81"/>
                </a:solidFill>
                <a:latin typeface="Microsoft YaHei"/>
                <a:ea typeface="Microsoft YaHei"/>
              </a:rPr>
              <a:t>异步补发引用与风险徽标——感知等待净减约</a:t>
            </a:r>
            <a:r>
              <a:rPr lang="en-US" sz="1200">
                <a:solidFill>
                  <a:srgbClr val="0F4C81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200">
                <a:solidFill>
                  <a:srgbClr val="0F4C81"/>
                </a:solidFill>
                <a:latin typeface="Microsoft YaHei"/>
                <a:ea typeface="Microsoft YaHei"/>
              </a:rPr>
              <a:t>秒；事件顺序写入专项单测，改坏了会红。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85800" y="562927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面试讲解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115675" y="56292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1280, height: 720, background: '#FAFCFE', padding: '0 72px', overflow: 'hidden' }}&gt;&#10;  &lt;Box style={{ paddingTop: 26 }}&gt;&#10;    &lt;Text style={{ fontSize: 34, fontWeight: 'bold', color: '#0F4C81' }}&gt;LLM 工厂与降级链&lt;/Text&gt;&#10;    &lt;Box style={{ width: 36, height: 4, background: '#E8590C', marginTop: 10 }} /&gt;&#10;  &lt;/Box&gt;&#10;  &lt;Box style={{ flexDirection: 'row', gap: 36, marginTop: 24, height: 450 }}&gt;&#10;    &lt;Box style={{ width: 340, background: 'linear-gradient(160deg, #0F4C81 0%, #2E6BA8 100%)', borderRadius: 12, padding: '30px 28px', justifyContent: 'space-between' }}&gt;&#10;      &lt;Box&gt;&#10;        &lt;Text style={{ fontSize: 15, color: 'rgba(255,255,255,0.75)' }}&gt;收口前 · 最坏等待&lt;/Text&gt;&#10;        &lt;Text style={{ fontSize: 58, fontWeight: 'bold', color: '#FFFFFF', marginTop: 6, fontFamily: &quot;'Inter','Helvetica Neue',Arial,sans-serif&quot; }}&gt;50 min&lt;/Text&gt;&#10;        &lt;Text style={{ fontSize: 16, color: 'rgba(255,255,255,0.85)', lineHeight: 1.65, marginTop: 12 }}&gt;13 处散装客户端构造 × SDK 默认重试 10 次 × 底层超时 300s，相乘的最坏结果。&lt;/Text&gt;&#10;      &lt;/Box&gt;&#10;      &lt;Box&gt;&#10;        &lt;Text style={{ fontSize: 15, color: 'rgba(255,255,255,0.75)' }}&gt;收口后&lt;/Text&gt;&#10;        &lt;Text style={{ fontSize: 20, fontWeight: 'bold', color: '#FFFFFF', lineHeight: 1.7, marginTop: 6 }}&gt;统一工厂 · lru_cache 单例{'\n'}超时分层 60s / 180s{'\n'}重试压至 2 次&lt;/Text&gt;&#10;        &lt;Text style={{ fontSize: 15, color: 'rgba(255,255,255,0.7)', lineHeight: 1.6, marginTop: 10 }}&gt;新代码想漏配都难。&lt;/Text&gt;&#10;      &lt;/Box&gt;&#10;    &lt;/Box&gt;&#10;    &lt;Box style={{ flex: 1, background: '#FFFFFF', border: '0.5px solid #DCE9F5', borderRadius: 12, padding: 16, justifyContent: 'center' }}&gt;&#10;      &lt;svg width={700} height={385} viewBox='0 0 760 418'&gt;&#10;        &lt;rect x='20' y='180' width='150' height='58' rx='8' fill='#0F4C81' /&gt;&#10;        &lt;text x='95' y='203' textAnchor='middle' fill='#FFFFFF' fontSize='15' fontWeight='bold'&gt;LLM 调用异常&lt;/text&gt;&#10;        &lt;text x='95' y='223' textAnchor='middle' fill='rgba(255,255,255,0.8)' fontSize='12'&gt;错误文本匹配标记&lt;/text&gt;&#10;        &lt;line x1='170' y1='209' x2='210' y2='209' stroke='#7BA7D9' strokeWidth='1.5' /&gt;&#10;        &lt;rect x='210' y='172' width='170' height='74' rx='10' fill='#DCE9F5' /&gt;&#10;        &lt;text x='295' y='202' textAnchor='middle' fill='#0F4C81' fontSize='15' fontWeight='bold'&gt;额度 / 权限类？&lt;/text&gt;&#10;        &lt;text x='295' y='226' textAnchor='middle' fill='#5E7B99' fontSize='12'&gt;限流不降级 → 重试兜底&lt;/text&gt;&#10;        &lt;line x1='380' y1='192' x2='430' y2='112' stroke='#E8590C' strokeWidth='2' /&gt;&#10;        &lt;line x1='380' y1='226' x2='430' y2='306' stroke='#7BA7D9' strokeWidth='1.5' /&gt;&#10;        &lt;rect x='430' y='82' width='300' height='60' rx='8' fill='#0F4C81' /&gt;&#10;        &lt;text x='580' y='106' textAnchor='middle' fill='#FFFFFF' fontSize='15' fontWeight='bold'&gt;沿降级链切换模型（粘性）&lt;/text&gt;&#10;        &lt;text x='580' y='128' textAnchor='middle' fill='rgba(255,255,255,0.8)' fontSize='12'&gt;额度不会自愈，粘住是预期行为&lt;/text&gt;&#10;        &lt;rect x='430' y='276' width='300' height='60' rx='8' fill='#DCE9F5' /&gt;&#10;        &lt;text x='580' y='300' textAnchor='middle' fill='#0F4C81' fontSize='15' fontWeight='bold'&gt;交给重试兜底&lt;/text&gt;&#10;        &lt;text x='580' y='322' textAnchor='middle' fill='#5E7B99' fontSize='12'&gt;防瞬时抖动把服务粘死在小模型&lt;/text&gt;&#10;        &lt;rect x='20' y='366' width='710' height='44' rx='8' fill='none' stroke='#E8590C' strokeWidth='1.5' /&gt;&#10;        &lt;text x='375' y='393' textAnchor='middle' dominantBaseline='middle' fill='#E8590C' fontSize='14' fontWeight='bold'&gt;流式边界：先缓冲首分片——首分片前可安全降级；已产出内容则原样抛错，无法回滚&lt;/text&gt;&#10;        &lt;text x='580' y='166' textAnchor='middle' fill='#93A9BD' fontSize='12'&gt;原生 ChatTongyi 与 OpenAI 兼容双端点按模型自动分流&lt;/text&gt;&#10;      &lt;/svg&gt;&#10;    &lt;/Box&gt;&#10;  &lt;/Box&gt;&#10;  &lt;Box style={{ height: 60, flexDirection: 'row', alignItems: 'center', justifyContent: 'space-between' }}&gt;&#10;    &lt;Text style={{ fontSize: 12, color: '#93A9BD' }}&gt;求职助手 Agent 平台 · 面试讲解&lt;/Text&gt;&#10;    &lt;Text style={{ fontSize: 12, color: '#93A9BD' }}&gt;11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247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2550" b="1">
                <a:solidFill>
                  <a:srgbClr val="0F4C81"/>
                </a:solidFill>
                <a:latin typeface="Microsoft YaHei"/>
                <a:ea typeface="Microsoft YaHei"/>
              </a:rPr>
              <a:t>工厂与降级链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85800" y="733425"/>
            <a:ext cx="342900" cy="381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85800" y="1000125"/>
            <a:ext cx="3238500" cy="4286250"/>
          </a:xfrm>
          <a:prstGeom prst="roundRect">
            <a:avLst>
              <a:gd name="adj" fmla="val 3529"/>
            </a:avLst>
          </a:prstGeom>
          <a:gradFill>
            <a:gsLst>
              <a:gs pos="0">
                <a:srgbClr val="0F4C81"/>
              </a:gs>
              <a:gs pos="100000">
                <a:srgbClr val="2E6BA8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52500" y="1285875"/>
            <a:ext cx="270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收口前</a:t>
            </a:r>
            <a:r>
              <a:rPr lang="en-US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最坏等待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952500" y="1514475"/>
            <a:ext cx="27051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FFFFFF"/>
                </a:solidFill>
                <a:latin typeface="Inter"/>
                <a:ea typeface="Inter"/>
              </a:rPr>
              <a:t>50 min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52500" y="2295525"/>
            <a:ext cx="27051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处散装客户端构造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× SDK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默认重试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次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底层超时</a:t>
            </a: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300s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，相乘的最坏结果。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52500" y="3228975"/>
            <a:ext cx="2705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收口后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52500" y="3457575"/>
            <a:ext cx="27051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统一工厂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lru_cache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单例</a:t>
            </a:r>
            <a:endParaRPr/>
          </a:p>
          <a:p>
            <a:pPr>
              <a:lnSpc>
                <a:spcPct val="17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超时分层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60s / 180s</a:t>
            </a:r>
            <a:endParaRPr/>
          </a:p>
          <a:p>
            <a:pPr>
              <a:lnSpc>
                <a:spcPct val="17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重试压至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52500" y="4724400"/>
            <a:ext cx="2705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新代码想漏配都难。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267200" y="1000125"/>
            <a:ext cx="7239000" cy="42862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419600" y="1314450"/>
            <a:ext cx="6667500" cy="3667125"/>
          </a:xfrm>
          <a:prstGeom prst="rect">
            <a:avLst/>
          </a:prstGeom>
          <a:ln/>
        </p:spPr>
      </p:pic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85800" y="5505450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面试讲解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15675" y="55054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7" name="" descr="&lt;Slide style={{ width: 1280, height: 720, background: '#FAFCFE', flexDirection: 'row', overflow: 'hidden' }}&gt;&#10;  &lt;Box style={{ width: 704, height: 720, background: 'linear-gradient(135deg, #0F4C81 0%, #2E6BA8 100%)', padding: '0 72px', justifyContent: 'center' }}&gt;&#10;    &lt;Text style={{ fontSize: 96, fontWeight: 'bold', color: 'rgba(255,255,255,0.5)', fontFamily: &quot;'Inter','Helvetica Neue',Arial,sans-serif&quot; }}&gt;03&lt;/Text&gt;&#10;    &lt;Text style={{ fontSize: 64, fontWeight: 'bold', color: '#FFFFFF', marginTop: 8 }}&gt;工程质量与总结&lt;/Text&gt;&#10;    &lt;Box style={{ width: 48, height: 6, background: '#E8590C', marginTop: 26 }} /&gt;&#10;    &lt;Text style={{ fontSize: 20, color: 'rgba(255,255,255,0.85)', lineHeight: 1.7, marginTop: 24 }}&gt;把模型的不确定性，变成可测试、可降级、可解释的行为。&lt;/Text&gt;&#10;  &lt;/Box&gt;&#10;  &lt;Box style={{ flex: 1, height: 720 }}&gt;&#10;    &lt;Image src=&quot;assets/section_quality.png&quot; style={{ width: '100%', height: '100%', objectFit: 'cover'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0" y="0"/>
            <a:ext cx="6705600" cy="6858000"/>
          </a:xfrm>
          <a:prstGeom prst="rect">
            <a:avLst/>
          </a:prstGeom>
          <a:gradFill>
            <a:gsLst>
              <a:gs pos="0">
                <a:srgbClr val="0F4C81"/>
              </a:gs>
              <a:gs pos="100000">
                <a:srgbClr val="2E6B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5800" y="2009775"/>
            <a:ext cx="5334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>
                    <a:alpha val="50000"/>
                  </a:srgbClr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3190875"/>
            <a:ext cx="5334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工程质量与总结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85800" y="4171950"/>
            <a:ext cx="457200" cy="5715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4457700"/>
            <a:ext cx="5334000" cy="3905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把模型的不确定性，变成可测试、可降级、可解释的行为。</a:t>
            </a:r>
            <a:endParaRPr/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 r:embed="rId1"/>
          <a:srcRect l="9999" t="0" r="9999" b="0"/>
          <a:stretch>
            <a:fillRect/>
          </a:stretch>
        </p:blipFill>
        <p:spPr>
          <a:xfrm rot="0" flipH="0" flipV="0">
            <a:off x="6705600" y="0"/>
            <a:ext cx="5486400" cy="6858000"/>
          </a:xfrm>
          <a:prstGeom prst="rect">
            <a:avLst/>
          </a:prstGeom>
          <a:ln/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5" name="" descr="&lt;Slide style={{ width: 1280, height: 720, background: '#FAFCFE', padding: '0 72px', overflow: 'hidden' }}&gt;&#10;  &lt;Box style={{ paddingTop: 26 }}&gt;&#10;    &lt;Text style={{ fontSize: 34, fontWeight: 'bold', color: '#0F4C81' }}&gt;输出治理与测试体系&lt;/Text&gt;&#10;    &lt;Box style={{ width: 36, height: 4, background: '#E8590C', marginTop: 10 }} /&gt;&#10;  &lt;/Box&gt;&#10;  &lt;Box style={{ flexDirection: 'row', gap: 40, marginTop: 22, height: 250 }}&gt;&#10;    &lt;Box style={{ width: 600 }}&gt;&#10;      &lt;Text style={{ fontSize: 20, fontWeight: 'bold', color: '#0F4C81' }}&gt;幻觉后置验证 · 降级可见化&lt;/Text&gt;&#10;      &lt;Box style={{ flexDirection: 'column', gap: 10, marginTop: 14 }}&gt;&#10;        &lt;Text style={{ fontSize: 17, color: '#1F2D3D', lineHeight: 1.6 }}&gt;· 回答拆成原子断言逐条归因，无支撑占比定低/中/高风险&lt;/Text&gt;&#10;        &lt;Text style={{ fontSize: 17, color: '#1F2D3D', lineHeight: 1.6 }}&gt;· &lt;span style={{ fontWeight: 'bold', color: '#E8590C' }}&gt;编造量化数据自动升级&lt;/span&gt;——精确假数字比模糊话术更危险&lt;/Text&gt;&#10;        &lt;Text style={{ fontSize: 17, color: '#1F2D3D', lineHeight: 1.6 }}&gt;· 「未验证」一律报 &lt;span style={{ fontWeight: 'bold', color: '#0F4C81' }}&gt;unknown&lt;/span&gt;，绝不冒充低风险&lt;/Text&gt;&#10;        &lt;Text style={{ fontSize: 17, color: '#1F2D3D', lineHeight: 1.6 }}&gt;· 评分缺失置 None 不伪造 0 分；非法枚举回退白名单&lt;/Text&gt;&#10;      &lt;/Box&gt;&#10;    &lt;/Box&gt;&#10;    &lt;Box style={{ flex: 1, background: '#FFFFFF', border: '0.5px solid #DCE9F5', borderRadius: 12, padding: '18px 22px' }}&gt;&#10;      &lt;Text style={{ fontSize: 17, fontWeight: 'bold', color: '#0F4C81' }}&gt;五级 JSON 解析管道&lt;/Text&gt;&#10;      &lt;Box style={{ flexDirection: 'column', gap: 8, marginTop: 12 }}&gt;&#10;        {['直接 loads', 'markdown 代码块提取', '括号计数状态机', '原文修复 repair_json', '正则兜底'].map((s, i) =&gt; (&#10;          &lt;Box key={i} style={{ flexDirection: 'row', alignItems: 'center', gap: 10 }}&gt;&#10;            &lt;Box style={{ width: 26, height: 26, borderRadius: 13, background: '#DCE9F5', alignItems: 'center', justifyContent: 'center' }}&gt;&#10;              &lt;Text style={{ fontSize: 13, fontWeight: 'bold', color: '#0F4C81', fontFamily: &quot;'Inter','Helvetica Neue',Arial,sans-serif&quot; }}&gt;{i + 1}&lt;/Text&gt;&#10;            &lt;/Box&gt;&#10;            &lt;Text style={{ fontSize: 16, color: '#1F2D3D' }}&gt;{s}&lt;/Text&gt;&#10;          &lt;/Box&gt;&#10;        ))}&#10;      &lt;/Box&gt;&#10;    &lt;/Box&gt;&#10;  &lt;/Box&gt;&#10;  &lt;Box style={{ marginTop: 16, height: 164, background: '#FFFFFF', border: '0.5px solid #DCE9F5', borderRadius: 12, padding: '14px 28px' }}&gt;&#10;    &lt;Box style={{ flexDirection: 'row', alignItems: 'center', gap: 28 }}&gt;&#10;      &lt;Text style={{ fontSize: 44, fontWeight: 'bold', color: '#E8590C', fontFamily: &quot;'Inter','Helvetica Neue',Arial,sans-serif&quot; }}&gt;155 项&lt;/Text&gt;&#10;      &lt;Text style={{ fontSize: 18, color: '#0F4C81', fontWeight: 'bold' }}&gt;pytest 全离线零网络&lt;/Text&gt;&#10;    &lt;/Box&gt;&#10;    &lt;Box style={{ flexDirection: 'row', gap: 32, marginTop: 10 }}&gt;&#10;      &lt;Box style={{ flex: 1 }}&gt;&#10;        &lt;Text style={{ fontSize: 16, fontWeight: 'bold', color: '#1F2D3D' }}&gt;mock SDK 驱动降级路径&lt;/Text&gt;&#10;        &lt;Text style={{ fontSize: 15, color: '#5E7B99', lineHeight: 1.55, marginTop: 4 }}&gt;断言额度错误后沿链切换且粘性保持、流式部分产出后原样抛错。&lt;/Text&gt;&#10;      &lt;/Box&gt;&#10;      &lt;Box style={{ flex: 1 }}&gt;&#10;        &lt;Text style={{ fontSize: 16, fontWeight: 'bold', color: '#1F2D3D' }}&gt;确定性假 embedding&lt;/Text&gt;&#10;        &lt;Text style={{ fontSize: 15, color: '#5E7B99', lineHeight: 1.55, marginTop: 4 }}&gt;字符取模生成固定向量，FAISS 检索可离线断言排序。&lt;/Text&gt;&#10;      &lt;/Box&gt;&#10;      &lt;Box style={{ flex: 1 }}&gt;&#10;        &lt;Text style={{ fontSize: 16, fontWeight: 'bold', color: '#1F2D3D' }}&gt;行为契约单测&lt;/Text&gt;&#10;        &lt;Text style={{ fontSize: 15, color: '#5E7B99', lineHeight: 1.55, marginTop: 4 }}&gt;SSE 事件顺序、降级信封字段、「零分合法保留」均有专项回归。&lt;/Text&gt;&#10;      &lt;/Box&gt;&#10;    &lt;/Box&gt;&#10;  &lt;/Box&gt;&#10;  &lt;Box style={{ background: '#DCE9F5', borderRadius: 8, padding: '12px 20px', marginTop: 16, borderLeft: '4px solid #E8590C' }}&gt;&#10;    &lt;Text style={{ fontSize: 18, color: '#0F4C81' }}&gt;测试的主要价值不是「功能能跑」，而是「故障时行为正确」。&lt;/Text&gt;&#10;  &lt;/Box&gt;&#10;  &lt;Box style={{ height: 46, flexDirection: 'row', alignItems: 'center', justifyContent: 'space-between' }}&gt;&#10;    &lt;Text style={{ fontSize: 12, color: '#93A9BD' }}&gt;求职助手 Agent 平台 · 面试讲解&lt;/Text&gt;&#10;    &lt;Text style={{ fontSize: 12, color: '#93A9BD' }}&gt;1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2476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4C81"/>
                </a:solidFill>
                <a:latin typeface="Microsoft YaHei"/>
                <a:ea typeface="Microsoft YaHei"/>
              </a:rPr>
              <a:t>输出治理与测试体系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85800" y="733425"/>
            <a:ext cx="342900" cy="381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981075"/>
            <a:ext cx="571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4C81"/>
                </a:solidFill>
                <a:latin typeface="Microsoft YaHei"/>
                <a:ea typeface="Microsoft YaHei"/>
              </a:rPr>
              <a:t>幻觉后置验证</a:t>
            </a:r>
            <a:r>
              <a:rPr lang="en-US" sz="150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F4C81"/>
                </a:solidFill>
                <a:latin typeface="Microsoft YaHei"/>
                <a:ea typeface="Microsoft YaHei"/>
              </a:rPr>
              <a:t>降级可见化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85800" y="1343025"/>
            <a:ext cx="5715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回答拆成原子断言逐条归因，无支撑占比定低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中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高风险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5800" y="1752600"/>
            <a:ext cx="5715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 b="1">
                <a:solidFill>
                  <a:srgbClr val="E8590C"/>
                </a:solidFill>
                <a:latin typeface="Microsoft YaHei"/>
                <a:ea typeface="Microsoft YaHei"/>
              </a:rPr>
              <a:t>编造量化数据自动升级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——精确假数字比模糊话术更危险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5715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「未验证」一律报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0F4C81"/>
                </a:solidFill>
                <a:latin typeface="Microsoft YaHei"/>
                <a:ea typeface="Microsoft YaHei"/>
              </a:rPr>
              <a:t>unknown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，绝不冒充低风险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5715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评分缺失置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 None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不伪造</a:t>
            </a:r>
            <a:r>
              <a:rPr lang="en-US" sz="1275">
                <a:solidFill>
                  <a:srgbClr val="1F2D3D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75">
                <a:solidFill>
                  <a:srgbClr val="1F2D3D"/>
                </a:solidFill>
                <a:latin typeface="Microsoft YaHei"/>
                <a:ea typeface="Microsoft YaHei"/>
              </a:rPr>
              <a:t>分；非法枚举回退白名单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781800" y="981075"/>
            <a:ext cx="47244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991350" y="115252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4C81"/>
                </a:solidFill>
                <a:latin typeface="Microsoft YaHei"/>
                <a:ea typeface="Microsoft YaHei"/>
              </a:rPr>
              <a:t>五级</a:t>
            </a:r>
            <a:r>
              <a:rPr lang="en-US" sz="1275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275" b="1">
                <a:solidFill>
                  <a:srgbClr val="0F4C81"/>
                </a:solidFill>
                <a:latin typeface="Microsoft YaHei"/>
                <a:ea typeface="Microsoft YaHei"/>
              </a:rPr>
              <a:t>解析管道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991350" y="14668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077075" y="15144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4C81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334250" y="1495425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D3D"/>
                </a:solidFill>
                <a:latin typeface="Microsoft YaHei"/>
                <a:ea typeface="Microsoft YaHei"/>
              </a:rPr>
              <a:t>直接</a:t>
            </a:r>
            <a:r>
              <a:rPr lang="en-US" sz="1200">
                <a:solidFill>
                  <a:srgbClr val="1F2D3D"/>
                </a:solidFill>
                <a:latin typeface="Microsoft YaHei"/>
                <a:ea typeface="Microsoft YaHei"/>
              </a:rPr>
              <a:t xml:space="preserve"> loads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991350" y="17907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077075" y="18383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4C81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334250" y="1819275"/>
            <a:ext cx="1590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F2D3D"/>
                </a:solidFill>
                <a:latin typeface="Microsoft YaHei"/>
                <a:ea typeface="Microsoft YaHei"/>
              </a:rPr>
              <a:t xml:space="preserve">markdown </a:t>
            </a:r>
            <a:r>
              <a:rPr lang="zh-CN" sz="1200">
                <a:solidFill>
                  <a:srgbClr val="1F2D3D"/>
                </a:solidFill>
                <a:latin typeface="Microsoft YaHei"/>
                <a:ea typeface="Microsoft YaHei"/>
              </a:rPr>
              <a:t>代码块提取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991350" y="21145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077075" y="21621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4C81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334250" y="214312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D3D"/>
                </a:solidFill>
                <a:latin typeface="Microsoft YaHei"/>
                <a:ea typeface="Microsoft YaHei"/>
              </a:rPr>
              <a:t>括号计数状态机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991350" y="24384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077075" y="24860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4C81"/>
                </a:solidFill>
                <a:latin typeface="Inter"/>
                <a:ea typeface="Inter"/>
              </a:rPr>
              <a:t>4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334250" y="246697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D3D"/>
                </a:solidFill>
                <a:latin typeface="Microsoft YaHei"/>
                <a:ea typeface="Microsoft YaHei"/>
              </a:rPr>
              <a:t>原文修复</a:t>
            </a:r>
            <a:r>
              <a:rPr lang="en-US" sz="1200">
                <a:solidFill>
                  <a:srgbClr val="1F2D3D"/>
                </a:solidFill>
                <a:latin typeface="Microsoft YaHei"/>
                <a:ea typeface="Microsoft YaHei"/>
              </a:rPr>
              <a:t xml:space="preserve"> repair_json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991350" y="27622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077075" y="28098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4C81"/>
                </a:soli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334250" y="27908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F2D3D"/>
                </a:solidFill>
                <a:latin typeface="Microsoft YaHei"/>
                <a:ea typeface="Microsoft YaHei"/>
              </a:rPr>
              <a:t>正则兜底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85800" y="3514725"/>
            <a:ext cx="1082040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CE9F5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52500" y="3648075"/>
            <a:ext cx="12382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8590C"/>
                </a:solidFill>
                <a:latin typeface="Inter"/>
                <a:ea typeface="Inter"/>
              </a:rPr>
              <a:t xml:space="preserve">155 </a:t>
            </a:r>
            <a:r>
              <a:rPr lang="zh-CN" sz="3300" b="1">
                <a:solidFill>
                  <a:srgbClr val="E8590C"/>
                </a:solidFill>
                <a:latin typeface="Inter"/>
                <a:ea typeface="Inter"/>
              </a:rPr>
              <a:t>项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2457450" y="3800475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pytest </a:t>
            </a:r>
            <a:r>
              <a:rPr lang="zh-CN" sz="1350" b="1">
                <a:solidFill>
                  <a:srgbClr val="0F4C81"/>
                </a:solidFill>
                <a:latin typeface="Microsoft YaHei"/>
                <a:ea typeface="Microsoft YaHei"/>
              </a:rPr>
              <a:t>全离线零网络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52500" y="4248150"/>
            <a:ext cx="3228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F2D3D"/>
                </a:solidFill>
                <a:latin typeface="Microsoft YaHei"/>
                <a:ea typeface="Microsoft YaHei"/>
              </a:rPr>
              <a:t xml:space="preserve">mock SDK </a:t>
            </a:r>
            <a:r>
              <a:rPr lang="zh-CN" sz="1200" b="1">
                <a:solidFill>
                  <a:srgbClr val="1F2D3D"/>
                </a:solidFill>
                <a:latin typeface="Microsoft YaHei"/>
                <a:ea typeface="Microsoft YaHei"/>
              </a:rPr>
              <a:t>驱动降级路径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52500" y="4476750"/>
            <a:ext cx="32289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断言额度错误后沿链切换且粘性保持、流式部分产出后原样抛错。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486275" y="4248150"/>
            <a:ext cx="3219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D3D"/>
                </a:solidFill>
                <a:latin typeface="Microsoft YaHei"/>
                <a:ea typeface="Microsoft YaHei"/>
              </a:rPr>
              <a:t>确定性假</a:t>
            </a:r>
            <a:r>
              <a:rPr lang="en-US" sz="1200" b="1">
                <a:solidFill>
                  <a:srgbClr val="1F2D3D"/>
                </a:solidFill>
                <a:latin typeface="Microsoft YaHei"/>
                <a:ea typeface="Microsoft YaHei"/>
              </a:rPr>
              <a:t xml:space="preserve"> embedding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486275" y="4476750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字符取模生成固定向量，</a:t>
            </a: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FAISS 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检索可离线断言排序。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10525" y="4248150"/>
            <a:ext cx="3228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D3D"/>
                </a:solidFill>
                <a:latin typeface="Microsoft YaHei"/>
                <a:ea typeface="Microsoft YaHei"/>
              </a:rPr>
              <a:t>行为契约单测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10525" y="4476750"/>
            <a:ext cx="32289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5E7B99"/>
                </a:solidFill>
                <a:latin typeface="Microsoft YaHei"/>
                <a:ea typeface="Microsoft YaHei"/>
              </a:rPr>
              <a:t xml:space="preserve">SSE </a:t>
            </a:r>
            <a:r>
              <a:rPr lang="zh-CN" sz="1125">
                <a:solidFill>
                  <a:srgbClr val="5E7B99"/>
                </a:solidFill>
                <a:latin typeface="Microsoft YaHei"/>
                <a:ea typeface="Microsoft YaHei"/>
              </a:rPr>
              <a:t>事件顺序、降级信封字段、「零分合法保留」均有专项回归。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723900" y="5229225"/>
            <a:ext cx="10820400" cy="438150"/>
          </a:xfrm>
          <a:prstGeom prst="roundRect">
            <a:avLst>
              <a:gd name="adj" fmla="val 17391"/>
            </a:avLst>
          </a:prstGeom>
          <a:solidFill>
            <a:srgbClr val="DCE9F5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723900" y="5229225"/>
            <a:ext cx="10820400" cy="438150"/>
          </a:xfrm>
          <a:custGeom>
            <a:pathLst>
              <a:path w="1136" h="46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42"/>
                </a:lnTo>
                <a:cubicBezTo>
                  <a:pt x="4" y="44"/>
                  <a:pt x="5" y="46"/>
                  <a:pt x="7" y="46"/>
                </a:cubicBezTo>
                <a:cubicBezTo>
                  <a:pt x="3" y="46"/>
                  <a:pt x="0" y="42"/>
                  <a:pt x="0" y="3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E8590C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14400" y="5343525"/>
            <a:ext cx="1040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F4C81"/>
                </a:solidFill>
                <a:latin typeface="Microsoft YaHei"/>
                <a:ea typeface="Microsoft YaHei"/>
              </a:rPr>
              <a:t>测试的主要价值不是「功能能跑」，而是「故障时行为正确」。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" y="5819775"/>
            <a:ext cx="1638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93A9BD"/>
                </a:solidFill>
                <a:latin typeface="Microsoft YaHei"/>
                <a:ea typeface="Microsoft YaHei"/>
              </a:rPr>
              <a:t>面试讲解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115675" y="58197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3A9BD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5" name="" descr="&lt;Slide style={{ width: 1280, height: 720, background: '#FAFCFE', overflow: 'hidden', alignItems: 'center', justifyContent: 'center' }}&gt;&#10;  &lt;Box style={{ position: 'absolute', top: -80, right: -60, width: 260, height: 260, borderRadius: 130, background: '#DCE9F5', opacity: 0.6 }} /&gt;&#10;  &lt;Box style={{ position: 'absolute', bottom: -100, left: -40, width: 300, height: 300, borderRadius: 150, background: '#DCE9F5', opacity: 0.45 }} /&gt;&#10;  &lt;Box style={{ width: 48, height: 6, background: '#E8590C', marginBottom: 36 }} /&gt;&#10;  &lt;Text style={{ fontSize: 48, fontWeight: 'bold', color: '#0F4C81', textAlign: 'center', lineHeight: 1.4 }}&gt;先建基准、接受被数据否决&lt;/Text&gt;&#10;  &lt;Text style={{ fontSize: 28, color: '#5E7B99', textAlign: 'center', marginTop: 18 }}&gt;用工程化治理 AI 的不确定性&lt;/Text&gt;&#10;  &lt;Box style={{ flexDirection: 'row', gap: 36, marginTop: 70, alignItems: 'center' }}&gt;&#10;    &lt;Text style={{ fontSize: 17, color: '#0F4C81', fontWeight: 'bold' }}&gt;重排 5.8×&lt;/Text&gt;&#10;    &lt;Box style={{ width: 4, height: 4, borderRadius: 2, background: '#93A9BD' }} /&gt;&#10;    &lt;Text style={{ fontSize: 17, color: '#0F4C81', fontWeight: 'bold' }}&gt;首字节 3.7s&lt;/Text&gt;&#10;    &lt;Box style={{ width: 4, height: 4, borderRadius: 2, background: '#93A9BD' }} /&gt;&#10;    &lt;Text style={{ fontSize: 17, color: '#0F4C81', fontWeight: 'bold' }}&gt;155 项离线测试&lt;/Text&gt;&#10;    &lt;Box style={{ width: 4, height: 4, borderRadius: 2, background: '#93A9BD' }} /&gt;&#10;    &lt;Text style={{ fontSize: 17, color: '#0F4C81', fontWeight: 'bold' }}&gt;九工具全链路降级&lt;/Text&gt;&#10;  &lt;/Box&gt;&#10;  &lt;Text style={{ fontSize: 14, color: '#93A9BD', marginTop: 40 }}&gt;求职助手 Agent 平台 · 2026.1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5867400" y="1895475"/>
            <a:ext cx="457200" cy="5715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352800" y="2295525"/>
            <a:ext cx="5486400" cy="77152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3600" b="1">
                <a:solidFill>
                  <a:srgbClr val="0F4C81"/>
                </a:solidFill>
                <a:latin typeface="Microsoft YaHei"/>
                <a:ea typeface="Microsoft YaHei"/>
              </a:rPr>
              <a:t>先建基准、接受被数据否决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419600" y="3238500"/>
            <a:ext cx="3362325" cy="3238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100">
                <a:solidFill>
                  <a:srgbClr val="5E7B99"/>
                </a:solidFill>
                <a:latin typeface="Microsoft YaHei"/>
                <a:ea typeface="Microsoft YaHei"/>
              </a:rPr>
              <a:t>用工程化治理</a:t>
            </a:r>
            <a:r>
              <a:rPr lang="en-US" sz="2100">
                <a:solidFill>
                  <a:srgbClr val="5E7B9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100">
                <a:solidFill>
                  <a:srgbClr val="5E7B99"/>
                </a:solidFill>
                <a:latin typeface="Microsoft YaHei"/>
                <a:ea typeface="Microsoft YaHei"/>
              </a:rPr>
              <a:t>的不确定性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981325" y="4229100"/>
            <a:ext cx="742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4C81"/>
                </a:solidFill>
                <a:latin typeface="Microsoft YaHei"/>
                <a:ea typeface="Microsoft YaHei"/>
              </a:rPr>
              <a:t>重排</a:t>
            </a:r>
            <a:r>
              <a:rPr lang="en-US" sz="1275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 5.8×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067175" y="4314825"/>
            <a:ext cx="38100" cy="38100"/>
          </a:xfrm>
          <a:prstGeom prst="roundRect">
            <a:avLst>
              <a:gd name="adj" fmla="val 50000"/>
            </a:avLst>
          </a:prstGeom>
          <a:solidFill>
            <a:srgbClr val="93A9BD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448175" y="4229100"/>
            <a:ext cx="866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4C81"/>
                </a:solidFill>
                <a:latin typeface="Microsoft YaHei"/>
                <a:ea typeface="Microsoft YaHei"/>
              </a:rPr>
              <a:t>首字节</a:t>
            </a:r>
            <a:r>
              <a:rPr lang="en-US" sz="1275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 3.7s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657850" y="4314825"/>
            <a:ext cx="38100" cy="38100"/>
          </a:xfrm>
          <a:prstGeom prst="roundRect">
            <a:avLst>
              <a:gd name="adj" fmla="val 50000"/>
            </a:avLst>
          </a:prstGeom>
          <a:solidFill>
            <a:srgbClr val="93A9BD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38850" y="4229100"/>
            <a:ext cx="1162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4C81"/>
                </a:solidFill>
                <a:latin typeface="Microsoft YaHei"/>
                <a:ea typeface="Microsoft YaHei"/>
              </a:rPr>
              <a:t xml:space="preserve">155 </a:t>
            </a:r>
            <a:r>
              <a:rPr lang="zh-CN" sz="1275" b="1">
                <a:solidFill>
                  <a:srgbClr val="0F4C81"/>
                </a:solidFill>
                <a:latin typeface="Microsoft YaHei"/>
                <a:ea typeface="Microsoft YaHei"/>
              </a:rPr>
              <a:t>项离线测试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543800" y="4314825"/>
            <a:ext cx="38100" cy="38100"/>
          </a:xfrm>
          <a:prstGeom prst="roundRect">
            <a:avLst>
              <a:gd name="adj" fmla="val 50000"/>
            </a:avLst>
          </a:prstGeom>
          <a:solidFill>
            <a:srgbClr val="93A9BD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924800" y="42291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4C81"/>
                </a:solidFill>
                <a:latin typeface="Microsoft YaHei"/>
                <a:ea typeface="Microsoft YaHei"/>
              </a:rPr>
              <a:t>九工具全链路降级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153025" y="4810125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3A9BD"/>
                </a:solidFill>
                <a:latin typeface="Microsoft YaHei"/>
                <a:ea typeface="Microsoft YaHei"/>
              </a:rPr>
              <a:t>求职助手</a:t>
            </a:r>
            <a:r>
              <a:rPr lang="en-US" sz="1050">
                <a:solidFill>
                  <a:srgbClr val="93A9BD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93A9BD"/>
                </a:solidFill>
                <a:latin typeface="Microsoft YaHei"/>
                <a:ea typeface="Microsoft YaHei"/>
              </a:rPr>
              <a:t>平台</a:t>
            </a:r>
            <a:r>
              <a:rPr lang="en-US" sz="1050">
                <a:solidFill>
                  <a:srgbClr val="93A9BD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10287000" y="-762000"/>
            <a:ext cx="2476500" cy="2476500"/>
          </a:xfrm>
          <a:custGeom>
            <a:pathLst>
              <a:path w="260" h="260">
                <a:moveTo>
                  <a:pt x="200" y="240"/>
                </a:moveTo>
                <a:cubicBezTo>
                  <a:pt x="152" y="270"/>
                  <a:pt x="90" y="266"/>
                  <a:pt x="46" y="230"/>
                </a:cubicBezTo>
                <a:cubicBezTo>
                  <a:pt x="3" y="193"/>
                  <a:pt x="-12" y="132"/>
                  <a:pt x="10" y="80"/>
                </a:cubicBezTo>
                <a:lnTo>
                  <a:pt x="200" y="80"/>
                </a:lnTo>
                <a:close/>
              </a:path>
            </a:pathLst>
          </a:custGeom>
          <a:solidFill>
            <a:srgbClr val="DCE9F5">
              <a:alpha val="60000"/>
            </a:srgbClr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-3810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40" y="200"/>
                </a:lnTo>
                <a:lnTo>
                  <a:pt x="40" y="48"/>
                </a:lnTo>
                <a:cubicBezTo>
                  <a:pt x="68" y="17"/>
                  <a:pt x="108" y="0"/>
                  <a:pt x="150" y="0"/>
                </a:cubicBezTo>
                <a:close/>
              </a:path>
            </a:pathLst>
          </a:custGeom>
          <a:solidFill>
            <a:srgbClr val="DCE9F5">
              <a:alpha val="45000"/>
            </a:srgbClr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2026-10-14T09:17:02Z</dcterms:created>
  <dcterms:modified xsi:type="dcterms:W3CDTF">2026-10-14T09:17:02Z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{"AIGC":{"Label":"1","ContentProducer":"00119111010856365494821B355","ProduceID":"2e47a851c8864aa3a1b34502a1bff105","ReservedCode1":"","ContentPropagator":"00119111010856365494821B355","PropagateID":"2e47a851c8864aa3a1b34502a1bff105","ReservedCode2":""}}</vt:lpwstr>
  </property>
</Properties>
</file>